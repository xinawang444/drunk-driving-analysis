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Public Sans Medium"/>
      <p:regular r:id="rId23"/>
      <p:bold r:id="rId24"/>
      <p:italic r:id="rId25"/>
      <p:boldItalic r:id="rId26"/>
    </p:embeddedFont>
    <p:embeddedFont>
      <p:font typeface="Public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ublicSansMedium-bold.fntdata"/><Relationship Id="rId23" Type="http://schemas.openxmlformats.org/officeDocument/2006/relationships/font" Target="fonts/PublicSans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ublicSansMedium-boldItalic.fntdata"/><Relationship Id="rId25" Type="http://schemas.openxmlformats.org/officeDocument/2006/relationships/font" Target="fonts/PublicSansMedium-italic.fntdata"/><Relationship Id="rId28" Type="http://schemas.openxmlformats.org/officeDocument/2006/relationships/font" Target="fonts/PublicSans-bold.fntdata"/><Relationship Id="rId27" Type="http://schemas.openxmlformats.org/officeDocument/2006/relationships/font" Target="fonts/Public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ublic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Public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bc584285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bc584285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bc5842852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bc5842852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bc5842852f_0_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bc5842852f_0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bc5842852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bc5842852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bc5842852f_0_7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bc5842852f_0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bc5842852f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bc5842852f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bc5842852f_0_7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bc5842852f_0_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bc5842852f_0_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bc5842852f_0_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bc5842852f_0_7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bc5842852f_0_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bc5842852f_0_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bc5842852f_0_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bc5842852f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bc5842852f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bc5842852f_0_7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bc5842852f_0_7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bc5842852f_0_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bc5842852f_0_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bc5842852f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bc5842852f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bc5842852f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bc5842852f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bc5842852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bc5842852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bc5842852f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bc5842852f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2" name="Google Shape;62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" name="Google Shape;70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" name="Google Shape;78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" name="Google Shape;89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" name="Google Shape;90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/>
          <p:nvPr/>
        </p:nvSpPr>
        <p:spPr>
          <a:xfrm>
            <a:off x="228600" y="223500"/>
            <a:ext cx="8686800" cy="46965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3" name="Google Shape;133;p23"/>
          <p:cNvSpPr txBox="1"/>
          <p:nvPr>
            <p:ph type="title"/>
          </p:nvPr>
        </p:nvSpPr>
        <p:spPr>
          <a:xfrm>
            <a:off x="398075" y="365350"/>
            <a:ext cx="7447200" cy="16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9807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35" name="Google Shape;135;p23"/>
          <p:cNvSpPr txBox="1"/>
          <p:nvPr>
            <p:ph idx="2" type="body"/>
          </p:nvPr>
        </p:nvSpPr>
        <p:spPr>
          <a:xfrm>
            <a:off x="6328425" y="4469075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 algn="r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 algn="r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dex &amp; Content">
  <p:cSld name="CUSTOM_13">
    <p:bg>
      <p:bgPr>
        <a:solidFill>
          <a:schemeClr val="dk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/>
          <p:nvPr/>
        </p:nvSpPr>
        <p:spPr>
          <a:xfrm>
            <a:off x="22845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24"/>
          <p:cNvSpPr txBox="1"/>
          <p:nvPr>
            <p:ph type="title"/>
          </p:nvPr>
        </p:nvSpPr>
        <p:spPr>
          <a:xfrm>
            <a:off x="571350" y="371077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41" name="Google Shape;141;p24"/>
          <p:cNvSpPr txBox="1"/>
          <p:nvPr>
            <p:ph idx="2" type="body"/>
          </p:nvPr>
        </p:nvSpPr>
        <p:spPr>
          <a:xfrm>
            <a:off x="571350" y="620025"/>
            <a:ext cx="60606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142" name="Google Shape;142;p24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 type="tx">
  <p:cSld name="TITLE_AND_BODY">
    <p:bg>
      <p:bgPr>
        <a:solidFill>
          <a:schemeClr val="dk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/>
          <p:nvPr/>
        </p:nvSpPr>
        <p:spPr>
          <a:xfrm>
            <a:off x="22845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25"/>
          <p:cNvSpPr txBox="1"/>
          <p:nvPr>
            <p:ph type="title"/>
          </p:nvPr>
        </p:nvSpPr>
        <p:spPr>
          <a:xfrm>
            <a:off x="571350" y="371077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47" name="Google Shape;147;p25"/>
          <p:cNvSpPr txBox="1"/>
          <p:nvPr>
            <p:ph idx="2" type="body"/>
          </p:nvPr>
        </p:nvSpPr>
        <p:spPr>
          <a:xfrm>
            <a:off x="396725" y="620025"/>
            <a:ext cx="55821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148" name="Google Shape;148;p25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nded Audience" type="twoColTx">
  <p:cSld name="TITLE_AND_TWO_COLUMNS">
    <p:bg>
      <p:bgPr>
        <a:solidFill>
          <a:schemeClr val="dk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/>
          <p:nvPr/>
        </p:nvSpPr>
        <p:spPr>
          <a:xfrm>
            <a:off x="22860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51" name="Google Shape;151;p26"/>
          <p:cNvSpPr txBox="1"/>
          <p:nvPr>
            <p:ph type="title"/>
          </p:nvPr>
        </p:nvSpPr>
        <p:spPr>
          <a:xfrm>
            <a:off x="396875" y="3950225"/>
            <a:ext cx="72279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228600" y="4707300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3" name="Google Shape;153;p26"/>
          <p:cNvSpPr/>
          <p:nvPr>
            <p:ph idx="2" type="pic"/>
          </p:nvPr>
        </p:nvSpPr>
        <p:spPr>
          <a:xfrm>
            <a:off x="396875" y="644975"/>
            <a:ext cx="2685600" cy="213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4" name="Google Shape;154;p26"/>
          <p:cNvSpPr/>
          <p:nvPr>
            <p:ph idx="3" type="pic"/>
          </p:nvPr>
        </p:nvSpPr>
        <p:spPr>
          <a:xfrm>
            <a:off x="3243990" y="644975"/>
            <a:ext cx="2685600" cy="213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5" name="Google Shape;155;p26"/>
          <p:cNvSpPr/>
          <p:nvPr>
            <p:ph idx="4" type="pic"/>
          </p:nvPr>
        </p:nvSpPr>
        <p:spPr>
          <a:xfrm>
            <a:off x="6091104" y="644975"/>
            <a:ext cx="2685600" cy="2131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56" name="Google Shape;156;p26"/>
          <p:cNvSpPr txBox="1"/>
          <p:nvPr>
            <p:ph idx="5" type="title"/>
          </p:nvPr>
        </p:nvSpPr>
        <p:spPr>
          <a:xfrm>
            <a:off x="770225" y="2837950"/>
            <a:ext cx="19389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6"/>
          <p:cNvSpPr txBox="1"/>
          <p:nvPr>
            <p:ph idx="6" type="title"/>
          </p:nvPr>
        </p:nvSpPr>
        <p:spPr>
          <a:xfrm>
            <a:off x="3602700" y="2837950"/>
            <a:ext cx="19389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6"/>
          <p:cNvSpPr txBox="1"/>
          <p:nvPr>
            <p:ph idx="7" type="title"/>
          </p:nvPr>
        </p:nvSpPr>
        <p:spPr>
          <a:xfrm>
            <a:off x="6464454" y="2837950"/>
            <a:ext cx="1938900" cy="2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6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1" type="titleOnly">
  <p:cSld name="TITLE_ONLY"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/>
          <p:nvPr/>
        </p:nvSpPr>
        <p:spPr>
          <a:xfrm>
            <a:off x="228600" y="223500"/>
            <a:ext cx="86871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2" name="Google Shape;162;p27"/>
          <p:cNvSpPr/>
          <p:nvPr/>
        </p:nvSpPr>
        <p:spPr>
          <a:xfrm>
            <a:off x="228600" y="223500"/>
            <a:ext cx="78003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3" name="Google Shape;163;p27"/>
          <p:cNvSpPr/>
          <p:nvPr/>
        </p:nvSpPr>
        <p:spPr>
          <a:xfrm>
            <a:off x="228600" y="223500"/>
            <a:ext cx="68427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4" name="Google Shape;164;p27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7"/>
          <p:cNvSpPr txBox="1"/>
          <p:nvPr>
            <p:ph idx="1" type="body"/>
          </p:nvPr>
        </p:nvSpPr>
        <p:spPr>
          <a:xfrm>
            <a:off x="374200" y="4213750"/>
            <a:ext cx="4167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166" name="Google Shape;166;p27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7" name="Google Shape;167;p27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2">
  <p:cSld name="CUSTOM_11">
    <p:bg>
      <p:bgPr>
        <a:solidFill>
          <a:schemeClr val="dk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/>
          <p:nvPr/>
        </p:nvSpPr>
        <p:spPr>
          <a:xfrm>
            <a:off x="228600" y="223500"/>
            <a:ext cx="86871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0" name="Google Shape;170;p28"/>
          <p:cNvSpPr/>
          <p:nvPr/>
        </p:nvSpPr>
        <p:spPr>
          <a:xfrm>
            <a:off x="228600" y="223500"/>
            <a:ext cx="78003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1" name="Google Shape;171;p28"/>
          <p:cNvSpPr/>
          <p:nvPr/>
        </p:nvSpPr>
        <p:spPr>
          <a:xfrm>
            <a:off x="228600" y="223500"/>
            <a:ext cx="68427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2" name="Google Shape;172;p28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8"/>
          <p:cNvSpPr txBox="1"/>
          <p:nvPr>
            <p:ph idx="1" type="body"/>
          </p:nvPr>
        </p:nvSpPr>
        <p:spPr>
          <a:xfrm>
            <a:off x="374200" y="4213750"/>
            <a:ext cx="4167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174" name="Google Shape;174;p28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5" name="Google Shape;175;p28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ivider color 3">
  <p:cSld name="CUSTOM_12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/>
          <p:nvPr/>
        </p:nvSpPr>
        <p:spPr>
          <a:xfrm>
            <a:off x="228600" y="223500"/>
            <a:ext cx="86871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8" name="Google Shape;178;p29"/>
          <p:cNvSpPr/>
          <p:nvPr/>
        </p:nvSpPr>
        <p:spPr>
          <a:xfrm>
            <a:off x="228600" y="223500"/>
            <a:ext cx="78003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9" name="Google Shape;179;p29"/>
          <p:cNvSpPr/>
          <p:nvPr/>
        </p:nvSpPr>
        <p:spPr>
          <a:xfrm>
            <a:off x="228600" y="223500"/>
            <a:ext cx="6842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0" name="Google Shape;180;p29"/>
          <p:cNvSpPr txBox="1"/>
          <p:nvPr>
            <p:ph type="title"/>
          </p:nvPr>
        </p:nvSpPr>
        <p:spPr>
          <a:xfrm>
            <a:off x="374200" y="1920875"/>
            <a:ext cx="6230700" cy="245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374200" y="4213750"/>
            <a:ext cx="4167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●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○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Public Sans Medium"/>
              <a:buChar char="■"/>
              <a:defRPr sz="1400"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/>
        </p:txBody>
      </p:sp>
      <p:sp>
        <p:nvSpPr>
          <p:cNvPr id="182" name="Google Shape;182;p29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3" name="Google Shape;183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1pPr>
            <a:lvl2pPr lvl="1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2pPr>
            <a:lvl3pPr lvl="2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3pPr>
            <a:lvl4pPr lvl="3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4pPr>
            <a:lvl5pPr lvl="4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5pPr>
            <a:lvl6pPr lvl="5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6pPr>
            <a:lvl7pPr lvl="6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7pPr>
            <a:lvl8pPr lvl="7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8pPr>
            <a:lvl9pPr lvl="8">
              <a:buNone/>
              <a:defRPr>
                <a:latin typeface="Public Sans Medium"/>
                <a:ea typeface="Public Sans Medium"/>
                <a:cs typeface="Public Sans Medium"/>
                <a:sym typeface="Public Sans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9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ny Overview">
  <p:cSld name="ONE_COLUMN_TEXT">
    <p:bg>
      <p:bgPr>
        <a:solidFill>
          <a:schemeClr val="dk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/>
          <p:nvPr/>
        </p:nvSpPr>
        <p:spPr>
          <a:xfrm>
            <a:off x="3899425" y="223500"/>
            <a:ext cx="50160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7" name="Google Shape;187;p30"/>
          <p:cNvSpPr/>
          <p:nvPr>
            <p:ph idx="2" type="pic"/>
          </p:nvPr>
        </p:nvSpPr>
        <p:spPr>
          <a:xfrm>
            <a:off x="228600" y="223500"/>
            <a:ext cx="3547800" cy="3302100"/>
          </a:xfrm>
          <a:prstGeom prst="roundRect">
            <a:avLst>
              <a:gd fmla="val 9186" name="adj"/>
            </a:avLst>
          </a:prstGeom>
          <a:noFill/>
          <a:ln>
            <a:noFill/>
          </a:ln>
        </p:spPr>
      </p:sp>
      <p:sp>
        <p:nvSpPr>
          <p:cNvPr id="188" name="Google Shape;188;p30"/>
          <p:cNvSpPr txBox="1"/>
          <p:nvPr>
            <p:ph idx="1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9" name="Google Shape;189;p30"/>
          <p:cNvSpPr txBox="1"/>
          <p:nvPr>
            <p:ph idx="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0" name="Google Shape;190;p30"/>
          <p:cNvSpPr txBox="1"/>
          <p:nvPr>
            <p:ph type="title"/>
          </p:nvPr>
        </p:nvSpPr>
        <p:spPr>
          <a:xfrm>
            <a:off x="4024125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0"/>
          <p:cNvSpPr txBox="1"/>
          <p:nvPr>
            <p:ph idx="4" type="body"/>
          </p:nvPr>
        </p:nvSpPr>
        <p:spPr>
          <a:xfrm>
            <a:off x="4024125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2" name="Google Shape;192;p30"/>
          <p:cNvSpPr txBox="1"/>
          <p:nvPr>
            <p:ph idx="5" type="title"/>
          </p:nvPr>
        </p:nvSpPr>
        <p:spPr>
          <a:xfrm>
            <a:off x="6588700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0"/>
          <p:cNvSpPr txBox="1"/>
          <p:nvPr>
            <p:ph idx="6" type="body"/>
          </p:nvPr>
        </p:nvSpPr>
        <p:spPr>
          <a:xfrm>
            <a:off x="6588700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4" name="Google Shape;194;p30"/>
          <p:cNvSpPr txBox="1"/>
          <p:nvPr>
            <p:ph idx="7" type="title"/>
          </p:nvPr>
        </p:nvSpPr>
        <p:spPr>
          <a:xfrm>
            <a:off x="4024138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0"/>
          <p:cNvSpPr txBox="1"/>
          <p:nvPr>
            <p:ph idx="8" type="body"/>
          </p:nvPr>
        </p:nvSpPr>
        <p:spPr>
          <a:xfrm>
            <a:off x="4024138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6" name="Google Shape;196;p30"/>
          <p:cNvSpPr txBox="1"/>
          <p:nvPr>
            <p:ph idx="9" type="title"/>
          </p:nvPr>
        </p:nvSpPr>
        <p:spPr>
          <a:xfrm>
            <a:off x="6588713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0"/>
          <p:cNvSpPr txBox="1"/>
          <p:nvPr>
            <p:ph idx="13" type="body"/>
          </p:nvPr>
        </p:nvSpPr>
        <p:spPr>
          <a:xfrm>
            <a:off x="6588713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98" name="Google Shape;198;p30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&amp; Outcomes">
  <p:cSld name="MAIN_POINT">
    <p:bg>
      <p:bgPr>
        <a:solidFill>
          <a:schemeClr val="dk1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01" name="Google Shape;201;p31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2" name="Google Shape;202;p31"/>
          <p:cNvSpPr txBox="1"/>
          <p:nvPr>
            <p:ph idx="2" type="subTitle"/>
          </p:nvPr>
        </p:nvSpPr>
        <p:spPr>
          <a:xfrm>
            <a:off x="538050" y="396875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1"/>
          <p:cNvSpPr txBox="1"/>
          <p:nvPr>
            <p:ph idx="3" type="body"/>
          </p:nvPr>
        </p:nvSpPr>
        <p:spPr>
          <a:xfrm>
            <a:off x="538050" y="693751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4" name="Google Shape;204;p31"/>
          <p:cNvSpPr txBox="1"/>
          <p:nvPr>
            <p:ph type="title"/>
          </p:nvPr>
        </p:nvSpPr>
        <p:spPr>
          <a:xfrm>
            <a:off x="393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05" name="Google Shape;205;p31"/>
          <p:cNvSpPr txBox="1"/>
          <p:nvPr>
            <p:ph idx="4" type="subTitle"/>
          </p:nvPr>
        </p:nvSpPr>
        <p:spPr>
          <a:xfrm>
            <a:off x="538050" y="1224478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1"/>
          <p:cNvSpPr txBox="1"/>
          <p:nvPr>
            <p:ph idx="5" type="body"/>
          </p:nvPr>
        </p:nvSpPr>
        <p:spPr>
          <a:xfrm>
            <a:off x="538050" y="1521355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7" name="Google Shape;207;p31"/>
          <p:cNvSpPr txBox="1"/>
          <p:nvPr>
            <p:ph idx="6" type="subTitle"/>
          </p:nvPr>
        </p:nvSpPr>
        <p:spPr>
          <a:xfrm>
            <a:off x="538050" y="2130802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31"/>
          <p:cNvSpPr txBox="1"/>
          <p:nvPr>
            <p:ph idx="7" type="body"/>
          </p:nvPr>
        </p:nvSpPr>
        <p:spPr>
          <a:xfrm>
            <a:off x="538050" y="2427671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09" name="Google Shape;209;p31"/>
          <p:cNvSpPr txBox="1"/>
          <p:nvPr>
            <p:ph idx="8" type="subTitle"/>
          </p:nvPr>
        </p:nvSpPr>
        <p:spPr>
          <a:xfrm>
            <a:off x="538050" y="3037130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1"/>
          <p:cNvSpPr txBox="1"/>
          <p:nvPr>
            <p:ph idx="9" type="body"/>
          </p:nvPr>
        </p:nvSpPr>
        <p:spPr>
          <a:xfrm>
            <a:off x="538050" y="3334000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1" name="Google Shape;211;p31"/>
          <p:cNvSpPr/>
          <p:nvPr/>
        </p:nvSpPr>
        <p:spPr>
          <a:xfrm>
            <a:off x="4633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2" name="Google Shape;212;p31"/>
          <p:cNvSpPr txBox="1"/>
          <p:nvPr>
            <p:ph idx="13" type="body"/>
          </p:nvPr>
        </p:nvSpPr>
        <p:spPr>
          <a:xfrm>
            <a:off x="4982950" y="693751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3" name="Google Shape;213;p31"/>
          <p:cNvSpPr txBox="1"/>
          <p:nvPr>
            <p:ph idx="14" type="title"/>
          </p:nvPr>
        </p:nvSpPr>
        <p:spPr>
          <a:xfrm>
            <a:off x="4798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4" name="Google Shape;214;p31"/>
          <p:cNvSpPr txBox="1"/>
          <p:nvPr>
            <p:ph idx="15" type="subTitle"/>
          </p:nvPr>
        </p:nvSpPr>
        <p:spPr>
          <a:xfrm>
            <a:off x="4982950" y="1224478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31"/>
          <p:cNvSpPr txBox="1"/>
          <p:nvPr>
            <p:ph idx="16" type="body"/>
          </p:nvPr>
        </p:nvSpPr>
        <p:spPr>
          <a:xfrm>
            <a:off x="4982950" y="1521354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6" name="Google Shape;216;p31"/>
          <p:cNvSpPr txBox="1"/>
          <p:nvPr>
            <p:ph idx="17" type="subTitle"/>
          </p:nvPr>
        </p:nvSpPr>
        <p:spPr>
          <a:xfrm>
            <a:off x="4982950" y="2130801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1"/>
          <p:cNvSpPr txBox="1"/>
          <p:nvPr>
            <p:ph idx="18" type="body"/>
          </p:nvPr>
        </p:nvSpPr>
        <p:spPr>
          <a:xfrm>
            <a:off x="4982950" y="2427670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18" name="Google Shape;218;p31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9" name="Google Shape;219;p31"/>
          <p:cNvSpPr txBox="1"/>
          <p:nvPr>
            <p:ph idx="19" type="subTitle"/>
          </p:nvPr>
        </p:nvSpPr>
        <p:spPr>
          <a:xfrm>
            <a:off x="4982950" y="3037129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31"/>
          <p:cNvSpPr txBox="1"/>
          <p:nvPr>
            <p:ph idx="20" type="body"/>
          </p:nvPr>
        </p:nvSpPr>
        <p:spPr>
          <a:xfrm>
            <a:off x="4982950" y="3333998"/>
            <a:ext cx="3582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31"/>
          <p:cNvSpPr txBox="1"/>
          <p:nvPr>
            <p:ph idx="21" type="subTitle"/>
          </p:nvPr>
        </p:nvSpPr>
        <p:spPr>
          <a:xfrm>
            <a:off x="4982950" y="396875"/>
            <a:ext cx="3582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w We Work">
  <p:cSld name="SECTION_TITLE_AND_DESCRIPTION">
    <p:bg>
      <p:bgPr>
        <a:solidFill>
          <a:schemeClr val="dk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/>
          <p:nvPr/>
        </p:nvSpPr>
        <p:spPr>
          <a:xfrm>
            <a:off x="226275" y="223500"/>
            <a:ext cx="2816100" cy="1171500"/>
          </a:xfrm>
          <a:prstGeom prst="roundRect">
            <a:avLst>
              <a:gd fmla="val 248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4" name="Google Shape;224;p32"/>
          <p:cNvSpPr/>
          <p:nvPr/>
        </p:nvSpPr>
        <p:spPr>
          <a:xfrm>
            <a:off x="3165850" y="223500"/>
            <a:ext cx="2813700" cy="3706800"/>
          </a:xfrm>
          <a:prstGeom prst="roundRect">
            <a:avLst>
              <a:gd fmla="val 1413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5" name="Google Shape;225;p32"/>
          <p:cNvSpPr/>
          <p:nvPr>
            <p:ph idx="2" type="pic"/>
          </p:nvPr>
        </p:nvSpPr>
        <p:spPr>
          <a:xfrm>
            <a:off x="228675" y="1535050"/>
            <a:ext cx="2813700" cy="2395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6" name="Google Shape;226;p32"/>
          <p:cNvSpPr/>
          <p:nvPr/>
        </p:nvSpPr>
        <p:spPr>
          <a:xfrm>
            <a:off x="6103025" y="2763825"/>
            <a:ext cx="2816100" cy="1171500"/>
          </a:xfrm>
          <a:prstGeom prst="roundRect">
            <a:avLst>
              <a:gd fmla="val 248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7" name="Google Shape;227;p32"/>
          <p:cNvSpPr/>
          <p:nvPr>
            <p:ph idx="3" type="pic"/>
          </p:nvPr>
        </p:nvSpPr>
        <p:spPr>
          <a:xfrm>
            <a:off x="6105350" y="223500"/>
            <a:ext cx="2813700" cy="2395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8" name="Google Shape;228;p32"/>
          <p:cNvSpPr txBox="1"/>
          <p:nvPr>
            <p:ph idx="1" type="subTitle"/>
          </p:nvPr>
        </p:nvSpPr>
        <p:spPr>
          <a:xfrm>
            <a:off x="210100" y="4062125"/>
            <a:ext cx="4860600" cy="64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9" name="Google Shape;229;p32"/>
          <p:cNvSpPr txBox="1"/>
          <p:nvPr>
            <p:ph idx="4" type="subTitle"/>
          </p:nvPr>
        </p:nvSpPr>
        <p:spPr>
          <a:xfrm>
            <a:off x="415725" y="291000"/>
            <a:ext cx="2437200" cy="103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2"/>
          <p:cNvSpPr txBox="1"/>
          <p:nvPr>
            <p:ph idx="5" type="subTitle"/>
          </p:nvPr>
        </p:nvSpPr>
        <p:spPr>
          <a:xfrm>
            <a:off x="6292475" y="2831325"/>
            <a:ext cx="2437200" cy="103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2"/>
          <p:cNvSpPr txBox="1"/>
          <p:nvPr>
            <p:ph type="title"/>
          </p:nvPr>
        </p:nvSpPr>
        <p:spPr>
          <a:xfrm>
            <a:off x="3357469" y="375900"/>
            <a:ext cx="2492700" cy="100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2" name="Google Shape;232;p32"/>
          <p:cNvSpPr txBox="1"/>
          <p:nvPr>
            <p:ph idx="6" type="body"/>
          </p:nvPr>
        </p:nvSpPr>
        <p:spPr>
          <a:xfrm>
            <a:off x="3321050" y="1395000"/>
            <a:ext cx="2384400" cy="23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3" name="Google Shape;233;p32"/>
          <p:cNvSpPr txBox="1"/>
          <p:nvPr>
            <p:ph idx="7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4" name="Google Shape;234;p32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APTION_ONLY"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3"/>
          <p:cNvSpPr txBox="1"/>
          <p:nvPr>
            <p:ph idx="1" type="subTitle"/>
          </p:nvPr>
        </p:nvSpPr>
        <p:spPr>
          <a:xfrm>
            <a:off x="228600" y="3858425"/>
            <a:ext cx="2202600" cy="84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7" name="Google Shape;237;p33"/>
          <p:cNvSpPr/>
          <p:nvPr>
            <p:ph idx="2" type="pic"/>
          </p:nvPr>
        </p:nvSpPr>
        <p:spPr>
          <a:xfrm>
            <a:off x="3351555" y="17747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8" name="Google Shape;238;p33"/>
          <p:cNvSpPr/>
          <p:nvPr>
            <p:ph idx="3" type="pic"/>
          </p:nvPr>
        </p:nvSpPr>
        <p:spPr>
          <a:xfrm>
            <a:off x="4641661" y="17747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9" name="Google Shape;239;p33"/>
          <p:cNvSpPr/>
          <p:nvPr>
            <p:ph idx="4" type="pic"/>
          </p:nvPr>
        </p:nvSpPr>
        <p:spPr>
          <a:xfrm>
            <a:off x="2061450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0" name="Google Shape;240;p33"/>
          <p:cNvSpPr/>
          <p:nvPr>
            <p:ph idx="5" type="pic"/>
          </p:nvPr>
        </p:nvSpPr>
        <p:spPr>
          <a:xfrm>
            <a:off x="3351555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1" name="Google Shape;241;p33"/>
          <p:cNvSpPr/>
          <p:nvPr>
            <p:ph idx="6" type="pic"/>
          </p:nvPr>
        </p:nvSpPr>
        <p:spPr>
          <a:xfrm>
            <a:off x="4641661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2" name="Google Shape;242;p33"/>
          <p:cNvSpPr/>
          <p:nvPr>
            <p:ph idx="7" type="pic"/>
          </p:nvPr>
        </p:nvSpPr>
        <p:spPr>
          <a:xfrm>
            <a:off x="5931766" y="1818190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3" name="Google Shape;243;p33"/>
          <p:cNvSpPr txBox="1"/>
          <p:nvPr>
            <p:ph idx="8" type="body"/>
          </p:nvPr>
        </p:nvSpPr>
        <p:spPr>
          <a:xfrm>
            <a:off x="3351550" y="1328275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4" name="Google Shape;244;p33"/>
          <p:cNvSpPr txBox="1"/>
          <p:nvPr>
            <p:ph idx="9" type="body"/>
          </p:nvPr>
        </p:nvSpPr>
        <p:spPr>
          <a:xfrm>
            <a:off x="4641650" y="1328275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5" name="Google Shape;245;p33"/>
          <p:cNvSpPr txBox="1"/>
          <p:nvPr>
            <p:ph idx="13" type="body"/>
          </p:nvPr>
        </p:nvSpPr>
        <p:spPr>
          <a:xfrm>
            <a:off x="2061425" y="297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6" name="Google Shape;246;p33"/>
          <p:cNvSpPr txBox="1"/>
          <p:nvPr>
            <p:ph idx="14" type="body"/>
          </p:nvPr>
        </p:nvSpPr>
        <p:spPr>
          <a:xfrm>
            <a:off x="3351525" y="297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7" name="Google Shape;247;p33"/>
          <p:cNvSpPr txBox="1"/>
          <p:nvPr>
            <p:ph idx="15" type="body"/>
          </p:nvPr>
        </p:nvSpPr>
        <p:spPr>
          <a:xfrm>
            <a:off x="4641650" y="296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8" name="Google Shape;248;p33"/>
          <p:cNvSpPr txBox="1"/>
          <p:nvPr>
            <p:ph idx="16" type="body"/>
          </p:nvPr>
        </p:nvSpPr>
        <p:spPr>
          <a:xfrm>
            <a:off x="5931775" y="2968988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9" name="Google Shape;249;p33"/>
          <p:cNvSpPr/>
          <p:nvPr>
            <p:ph idx="17" type="pic"/>
          </p:nvPr>
        </p:nvSpPr>
        <p:spPr>
          <a:xfrm>
            <a:off x="2706505" y="346891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0" name="Google Shape;250;p33"/>
          <p:cNvSpPr/>
          <p:nvPr>
            <p:ph idx="18" type="pic"/>
          </p:nvPr>
        </p:nvSpPr>
        <p:spPr>
          <a:xfrm>
            <a:off x="3996611" y="346891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1" name="Google Shape;251;p33"/>
          <p:cNvSpPr/>
          <p:nvPr>
            <p:ph idx="19" type="pic"/>
          </p:nvPr>
        </p:nvSpPr>
        <p:spPr>
          <a:xfrm>
            <a:off x="5286716" y="3468915"/>
            <a:ext cx="1150800" cy="1150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2" name="Google Shape;252;p33"/>
          <p:cNvSpPr txBox="1"/>
          <p:nvPr>
            <p:ph idx="20" type="body"/>
          </p:nvPr>
        </p:nvSpPr>
        <p:spPr>
          <a:xfrm>
            <a:off x="2706475" y="4629713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3" name="Google Shape;253;p33"/>
          <p:cNvSpPr txBox="1"/>
          <p:nvPr>
            <p:ph idx="21" type="body"/>
          </p:nvPr>
        </p:nvSpPr>
        <p:spPr>
          <a:xfrm>
            <a:off x="3996600" y="4619713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33"/>
          <p:cNvSpPr txBox="1"/>
          <p:nvPr>
            <p:ph idx="22" type="body"/>
          </p:nvPr>
        </p:nvSpPr>
        <p:spPr>
          <a:xfrm>
            <a:off x="5286725" y="4619713"/>
            <a:ext cx="1150800" cy="2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33"/>
          <p:cNvSpPr txBox="1"/>
          <p:nvPr>
            <p:ph idx="2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" name="Google Shape;256;p33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le Overview">
  <p:cSld name="BIG_NUMBER">
    <p:bg>
      <p:bgPr>
        <a:solidFill>
          <a:schemeClr val="dk1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4"/>
          <p:cNvSpPr/>
          <p:nvPr/>
        </p:nvSpPr>
        <p:spPr>
          <a:xfrm>
            <a:off x="2286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9" name="Google Shape;259;p34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0" name="Google Shape;260;p34"/>
          <p:cNvSpPr txBox="1"/>
          <p:nvPr>
            <p:ph idx="2" type="body"/>
          </p:nvPr>
        </p:nvSpPr>
        <p:spPr>
          <a:xfrm>
            <a:off x="5373925" y="3376450"/>
            <a:ext cx="3541500" cy="10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1" name="Google Shape;261;p34"/>
          <p:cNvSpPr txBox="1"/>
          <p:nvPr>
            <p:ph idx="3" type="body"/>
          </p:nvPr>
        </p:nvSpPr>
        <p:spPr>
          <a:xfrm>
            <a:off x="2801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2" name="Google Shape;262;p34"/>
          <p:cNvSpPr/>
          <p:nvPr/>
        </p:nvSpPr>
        <p:spPr>
          <a:xfrm>
            <a:off x="24311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3" name="Google Shape;263;p34"/>
          <p:cNvSpPr txBox="1"/>
          <p:nvPr>
            <p:ph idx="4" type="body"/>
          </p:nvPr>
        </p:nvSpPr>
        <p:spPr>
          <a:xfrm>
            <a:off x="24826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4" name="Google Shape;264;p34"/>
          <p:cNvSpPr/>
          <p:nvPr/>
        </p:nvSpPr>
        <p:spPr>
          <a:xfrm>
            <a:off x="46336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5" name="Google Shape;265;p34"/>
          <p:cNvSpPr txBox="1"/>
          <p:nvPr>
            <p:ph idx="5" type="body"/>
          </p:nvPr>
        </p:nvSpPr>
        <p:spPr>
          <a:xfrm>
            <a:off x="46851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6" name="Google Shape;266;p34"/>
          <p:cNvSpPr/>
          <p:nvPr/>
        </p:nvSpPr>
        <p:spPr>
          <a:xfrm>
            <a:off x="6836100" y="223500"/>
            <a:ext cx="2080200" cy="2892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Public Sans"/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7" name="Google Shape;267;p34"/>
          <p:cNvSpPr txBox="1"/>
          <p:nvPr>
            <p:ph idx="6" type="body"/>
          </p:nvPr>
        </p:nvSpPr>
        <p:spPr>
          <a:xfrm>
            <a:off x="6887650" y="320950"/>
            <a:ext cx="19164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68" name="Google Shape;268;p34"/>
          <p:cNvSpPr txBox="1"/>
          <p:nvPr>
            <p:ph idx="7" type="subTitle"/>
          </p:nvPr>
        </p:nvSpPr>
        <p:spPr>
          <a:xfrm>
            <a:off x="2801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34"/>
          <p:cNvSpPr txBox="1"/>
          <p:nvPr>
            <p:ph idx="8" type="subTitle"/>
          </p:nvPr>
        </p:nvSpPr>
        <p:spPr>
          <a:xfrm>
            <a:off x="24826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34"/>
          <p:cNvSpPr txBox="1"/>
          <p:nvPr>
            <p:ph idx="9" type="subTitle"/>
          </p:nvPr>
        </p:nvSpPr>
        <p:spPr>
          <a:xfrm>
            <a:off x="46851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4"/>
          <p:cNvSpPr txBox="1"/>
          <p:nvPr>
            <p:ph idx="13" type="subTitle"/>
          </p:nvPr>
        </p:nvSpPr>
        <p:spPr>
          <a:xfrm>
            <a:off x="6887650" y="2543875"/>
            <a:ext cx="1799400" cy="49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34"/>
          <p:cNvSpPr txBox="1"/>
          <p:nvPr>
            <p:ph idx="14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3" name="Google Shape;273;p34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l Rules" type="blank">
  <p:cSld name="BLANK">
    <p:bg>
      <p:bgPr>
        <a:solidFill>
          <a:schemeClr val="dk1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"/>
          <p:cNvSpPr txBox="1"/>
          <p:nvPr>
            <p:ph idx="1" type="body"/>
          </p:nvPr>
        </p:nvSpPr>
        <p:spPr>
          <a:xfrm>
            <a:off x="228600" y="223500"/>
            <a:ext cx="4280700" cy="14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6" name="Google Shape;276;p35"/>
          <p:cNvSpPr txBox="1"/>
          <p:nvPr>
            <p:ph idx="2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7" name="Google Shape;277;p35"/>
          <p:cNvSpPr txBox="1"/>
          <p:nvPr>
            <p:ph idx="3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8" name="Google Shape;278;p35"/>
          <p:cNvSpPr/>
          <p:nvPr/>
        </p:nvSpPr>
        <p:spPr>
          <a:xfrm>
            <a:off x="4633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9" name="Google Shape;279;p35"/>
          <p:cNvSpPr txBox="1"/>
          <p:nvPr>
            <p:ph idx="4" type="subTitle"/>
          </p:nvPr>
        </p:nvSpPr>
        <p:spPr>
          <a:xfrm>
            <a:off x="4849425" y="1251515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35"/>
          <p:cNvSpPr txBox="1"/>
          <p:nvPr>
            <p:ph idx="5" type="body"/>
          </p:nvPr>
        </p:nvSpPr>
        <p:spPr>
          <a:xfrm>
            <a:off x="4849488" y="1548391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1" name="Google Shape;281;p35"/>
          <p:cNvSpPr txBox="1"/>
          <p:nvPr>
            <p:ph idx="6" type="subTitle"/>
          </p:nvPr>
        </p:nvSpPr>
        <p:spPr>
          <a:xfrm>
            <a:off x="4849425" y="2052387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35"/>
          <p:cNvSpPr txBox="1"/>
          <p:nvPr>
            <p:ph idx="7" type="body"/>
          </p:nvPr>
        </p:nvSpPr>
        <p:spPr>
          <a:xfrm>
            <a:off x="4849488" y="2349257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3" name="Google Shape;283;p35"/>
          <p:cNvSpPr txBox="1"/>
          <p:nvPr>
            <p:ph idx="8" type="subTitle"/>
          </p:nvPr>
        </p:nvSpPr>
        <p:spPr>
          <a:xfrm>
            <a:off x="4849425" y="2859065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35"/>
          <p:cNvSpPr txBox="1"/>
          <p:nvPr>
            <p:ph idx="9" type="body"/>
          </p:nvPr>
        </p:nvSpPr>
        <p:spPr>
          <a:xfrm>
            <a:off x="4849488" y="3155934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5" name="Google Shape;285;p35"/>
          <p:cNvSpPr txBox="1"/>
          <p:nvPr>
            <p:ph idx="13" type="subTitle"/>
          </p:nvPr>
        </p:nvSpPr>
        <p:spPr>
          <a:xfrm>
            <a:off x="4849425" y="3747093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35"/>
          <p:cNvSpPr txBox="1"/>
          <p:nvPr>
            <p:ph idx="14" type="body"/>
          </p:nvPr>
        </p:nvSpPr>
        <p:spPr>
          <a:xfrm>
            <a:off x="4849488" y="4043962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7" name="Google Shape;287;p35"/>
          <p:cNvSpPr txBox="1"/>
          <p:nvPr>
            <p:ph idx="15" type="subTitle"/>
          </p:nvPr>
        </p:nvSpPr>
        <p:spPr>
          <a:xfrm>
            <a:off x="4849425" y="450638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5"/>
          <p:cNvSpPr txBox="1"/>
          <p:nvPr>
            <p:ph idx="16" type="body"/>
          </p:nvPr>
        </p:nvSpPr>
        <p:spPr>
          <a:xfrm>
            <a:off x="4849488" y="747514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9" name="Google Shape;289;p35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">
    <p:bg>
      <p:bgPr>
        <a:solidFill>
          <a:schemeClr val="dk1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6"/>
          <p:cNvSpPr txBox="1"/>
          <p:nvPr>
            <p:ph type="title"/>
          </p:nvPr>
        </p:nvSpPr>
        <p:spPr>
          <a:xfrm>
            <a:off x="962775" y="223500"/>
            <a:ext cx="7952700" cy="20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b="1" sz="96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Public Sans"/>
              <a:buNone/>
              <a:defRPr b="1" sz="9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2" name="Google Shape;292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ols &amp; Meetings">
  <p:cSld name="CUSTOM_2">
    <p:bg>
      <p:bgPr>
        <a:solidFill>
          <a:schemeClr val="dk1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95" name="Google Shape;295;p37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p37"/>
          <p:cNvSpPr txBox="1"/>
          <p:nvPr>
            <p:ph type="title"/>
          </p:nvPr>
        </p:nvSpPr>
        <p:spPr>
          <a:xfrm>
            <a:off x="393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7" name="Google Shape;297;p37"/>
          <p:cNvSpPr txBox="1"/>
          <p:nvPr>
            <p:ph idx="2" type="body"/>
          </p:nvPr>
        </p:nvSpPr>
        <p:spPr>
          <a:xfrm>
            <a:off x="517200" y="396875"/>
            <a:ext cx="3703500" cy="33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8" name="Google Shape;298;p37"/>
          <p:cNvSpPr/>
          <p:nvPr/>
        </p:nvSpPr>
        <p:spPr>
          <a:xfrm>
            <a:off x="4633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99" name="Google Shape;299;p37"/>
          <p:cNvSpPr txBox="1"/>
          <p:nvPr>
            <p:ph idx="3" type="title"/>
          </p:nvPr>
        </p:nvSpPr>
        <p:spPr>
          <a:xfrm>
            <a:off x="4798700" y="3932625"/>
            <a:ext cx="3582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0" name="Google Shape;300;p37"/>
          <p:cNvSpPr txBox="1"/>
          <p:nvPr>
            <p:ph idx="4" type="body"/>
          </p:nvPr>
        </p:nvSpPr>
        <p:spPr>
          <a:xfrm>
            <a:off x="4922200" y="396875"/>
            <a:ext cx="3703500" cy="33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1" name="Google Shape;301;p37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ps for success">
  <p:cSld name="CUSTOM_3">
    <p:bg>
      <p:bgPr>
        <a:solidFill>
          <a:schemeClr val="dk1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/>
          <p:nvPr/>
        </p:nvSpPr>
        <p:spPr>
          <a:xfrm>
            <a:off x="3899425" y="223500"/>
            <a:ext cx="5016000" cy="44838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04" name="Google Shape;304;p38"/>
          <p:cNvSpPr/>
          <p:nvPr>
            <p:ph idx="2" type="pic"/>
          </p:nvPr>
        </p:nvSpPr>
        <p:spPr>
          <a:xfrm>
            <a:off x="228600" y="223500"/>
            <a:ext cx="3547800" cy="3302100"/>
          </a:xfrm>
          <a:prstGeom prst="roundRect">
            <a:avLst>
              <a:gd fmla="val 9186" name="adj"/>
            </a:avLst>
          </a:prstGeom>
          <a:noFill/>
          <a:ln>
            <a:noFill/>
          </a:ln>
        </p:spPr>
      </p:sp>
      <p:sp>
        <p:nvSpPr>
          <p:cNvPr id="305" name="Google Shape;305;p38"/>
          <p:cNvSpPr txBox="1"/>
          <p:nvPr>
            <p:ph idx="1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38"/>
          <p:cNvSpPr txBox="1"/>
          <p:nvPr>
            <p:ph idx="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7" name="Google Shape;307;p38"/>
          <p:cNvSpPr txBox="1"/>
          <p:nvPr>
            <p:ph type="title"/>
          </p:nvPr>
        </p:nvSpPr>
        <p:spPr>
          <a:xfrm>
            <a:off x="4024125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38"/>
          <p:cNvSpPr txBox="1"/>
          <p:nvPr>
            <p:ph idx="4" type="body"/>
          </p:nvPr>
        </p:nvSpPr>
        <p:spPr>
          <a:xfrm>
            <a:off x="4024125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09" name="Google Shape;309;p38"/>
          <p:cNvSpPr txBox="1"/>
          <p:nvPr>
            <p:ph idx="5" type="title"/>
          </p:nvPr>
        </p:nvSpPr>
        <p:spPr>
          <a:xfrm>
            <a:off x="6588700" y="430338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38"/>
          <p:cNvSpPr txBox="1"/>
          <p:nvPr>
            <p:ph idx="6" type="body"/>
          </p:nvPr>
        </p:nvSpPr>
        <p:spPr>
          <a:xfrm>
            <a:off x="6588700" y="1261138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1" name="Google Shape;311;p38"/>
          <p:cNvSpPr txBox="1"/>
          <p:nvPr>
            <p:ph idx="7" type="title"/>
          </p:nvPr>
        </p:nvSpPr>
        <p:spPr>
          <a:xfrm>
            <a:off x="4024138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8"/>
          <p:cNvSpPr txBox="1"/>
          <p:nvPr>
            <p:ph idx="8" type="body"/>
          </p:nvPr>
        </p:nvSpPr>
        <p:spPr>
          <a:xfrm>
            <a:off x="4024138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3" name="Google Shape;313;p38"/>
          <p:cNvSpPr txBox="1"/>
          <p:nvPr>
            <p:ph idx="9" type="title"/>
          </p:nvPr>
        </p:nvSpPr>
        <p:spPr>
          <a:xfrm>
            <a:off x="6588713" y="2685663"/>
            <a:ext cx="1558500" cy="10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38"/>
          <p:cNvSpPr txBox="1"/>
          <p:nvPr>
            <p:ph idx="13" type="body"/>
          </p:nvPr>
        </p:nvSpPr>
        <p:spPr>
          <a:xfrm>
            <a:off x="6588713" y="3516463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15" name="Google Shape;315;p38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4">
    <p:bg>
      <p:bgPr>
        <a:solidFill>
          <a:schemeClr val="dk1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9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8" name="Google Shape;318;p39"/>
          <p:cNvSpPr txBox="1"/>
          <p:nvPr>
            <p:ph idx="2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9" name="Google Shape;319;p39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step process">
  <p:cSld name="CUSTOM_5">
    <p:bg>
      <p:bgPr>
        <a:solidFill>
          <a:schemeClr val="dk1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/>
          <p:nvPr/>
        </p:nvSpPr>
        <p:spPr>
          <a:xfrm>
            <a:off x="22860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22" name="Google Shape;322;p40"/>
          <p:cNvSpPr txBox="1"/>
          <p:nvPr>
            <p:ph idx="1" type="subTitle"/>
          </p:nvPr>
        </p:nvSpPr>
        <p:spPr>
          <a:xfrm>
            <a:off x="284650" y="2956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40"/>
          <p:cNvSpPr txBox="1"/>
          <p:nvPr>
            <p:ph idx="2" type="body"/>
          </p:nvPr>
        </p:nvSpPr>
        <p:spPr>
          <a:xfrm>
            <a:off x="284650" y="9634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4" name="Google Shape;324;p40"/>
          <p:cNvSpPr txBox="1"/>
          <p:nvPr>
            <p:ph type="title"/>
          </p:nvPr>
        </p:nvSpPr>
        <p:spPr>
          <a:xfrm>
            <a:off x="240850" y="3175000"/>
            <a:ext cx="5004000" cy="153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40"/>
          <p:cNvSpPr txBox="1"/>
          <p:nvPr>
            <p:ph idx="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40"/>
          <p:cNvSpPr/>
          <p:nvPr/>
        </p:nvSpPr>
        <p:spPr>
          <a:xfrm>
            <a:off x="316515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27" name="Google Shape;327;p40"/>
          <p:cNvSpPr txBox="1"/>
          <p:nvPr>
            <p:ph idx="4" type="subTitle"/>
          </p:nvPr>
        </p:nvSpPr>
        <p:spPr>
          <a:xfrm>
            <a:off x="3221200" y="2956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40"/>
          <p:cNvSpPr txBox="1"/>
          <p:nvPr>
            <p:ph idx="5" type="body"/>
          </p:nvPr>
        </p:nvSpPr>
        <p:spPr>
          <a:xfrm>
            <a:off x="3221200" y="9634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29" name="Google Shape;329;p40"/>
          <p:cNvSpPr/>
          <p:nvPr/>
        </p:nvSpPr>
        <p:spPr>
          <a:xfrm>
            <a:off x="6101700" y="2235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30" name="Google Shape;330;p40"/>
          <p:cNvSpPr txBox="1"/>
          <p:nvPr>
            <p:ph idx="6" type="subTitle"/>
          </p:nvPr>
        </p:nvSpPr>
        <p:spPr>
          <a:xfrm>
            <a:off x="6157750" y="2956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0"/>
          <p:cNvSpPr txBox="1"/>
          <p:nvPr>
            <p:ph idx="7" type="body"/>
          </p:nvPr>
        </p:nvSpPr>
        <p:spPr>
          <a:xfrm>
            <a:off x="6157750" y="9634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2" name="Google Shape;332;p40"/>
          <p:cNvSpPr/>
          <p:nvPr/>
        </p:nvSpPr>
        <p:spPr>
          <a:xfrm>
            <a:off x="6101700" y="2531700"/>
            <a:ext cx="2813700" cy="21756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33" name="Google Shape;333;p40"/>
          <p:cNvSpPr txBox="1"/>
          <p:nvPr>
            <p:ph idx="8" type="subTitle"/>
          </p:nvPr>
        </p:nvSpPr>
        <p:spPr>
          <a:xfrm>
            <a:off x="6157750" y="2603800"/>
            <a:ext cx="21462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4" name="Google Shape;334;p40"/>
          <p:cNvSpPr txBox="1"/>
          <p:nvPr>
            <p:ph idx="9" type="body"/>
          </p:nvPr>
        </p:nvSpPr>
        <p:spPr>
          <a:xfrm>
            <a:off x="6157750" y="3271650"/>
            <a:ext cx="2660400" cy="12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35" name="Google Shape;335;p40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s &amp; Suggestion ">
  <p:cSld name="CUSTOM_6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1"/>
          <p:cNvSpPr txBox="1"/>
          <p:nvPr>
            <p:ph type="title"/>
          </p:nvPr>
        </p:nvSpPr>
        <p:spPr>
          <a:xfrm>
            <a:off x="240850" y="3175000"/>
            <a:ext cx="5004000" cy="153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8" name="Google Shape;338;p41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9" name="Google Shape;339;p41"/>
          <p:cNvSpPr txBox="1"/>
          <p:nvPr>
            <p:ph idx="2" type="subTitle"/>
          </p:nvPr>
        </p:nvSpPr>
        <p:spPr>
          <a:xfrm>
            <a:off x="228600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0" name="Google Shape;340;p41"/>
          <p:cNvSpPr txBox="1"/>
          <p:nvPr>
            <p:ph idx="3" type="body"/>
          </p:nvPr>
        </p:nvSpPr>
        <p:spPr>
          <a:xfrm>
            <a:off x="228725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1" name="Google Shape;341;p41"/>
          <p:cNvSpPr txBox="1"/>
          <p:nvPr>
            <p:ph idx="4" type="subTitle"/>
          </p:nvPr>
        </p:nvSpPr>
        <p:spPr>
          <a:xfrm>
            <a:off x="2431100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2" name="Google Shape;342;p41"/>
          <p:cNvSpPr txBox="1"/>
          <p:nvPr>
            <p:ph idx="5" type="body"/>
          </p:nvPr>
        </p:nvSpPr>
        <p:spPr>
          <a:xfrm>
            <a:off x="2431225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3" name="Google Shape;343;p41"/>
          <p:cNvSpPr txBox="1"/>
          <p:nvPr>
            <p:ph idx="6" type="subTitle"/>
          </p:nvPr>
        </p:nvSpPr>
        <p:spPr>
          <a:xfrm>
            <a:off x="4633725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4" name="Google Shape;344;p41"/>
          <p:cNvSpPr txBox="1"/>
          <p:nvPr>
            <p:ph idx="7" type="body"/>
          </p:nvPr>
        </p:nvSpPr>
        <p:spPr>
          <a:xfrm>
            <a:off x="4633850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5" name="Google Shape;345;p41"/>
          <p:cNvSpPr txBox="1"/>
          <p:nvPr>
            <p:ph idx="8" type="subTitle"/>
          </p:nvPr>
        </p:nvSpPr>
        <p:spPr>
          <a:xfrm>
            <a:off x="6836100" y="223500"/>
            <a:ext cx="2079300" cy="77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6" name="Google Shape;346;p41"/>
          <p:cNvSpPr txBox="1"/>
          <p:nvPr>
            <p:ph idx="9" type="body"/>
          </p:nvPr>
        </p:nvSpPr>
        <p:spPr>
          <a:xfrm>
            <a:off x="6836225" y="698500"/>
            <a:ext cx="20793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7" name="Google Shape;347;p41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rst Months">
  <p:cSld name="CUSTOM_7">
    <p:bg>
      <p:bgPr>
        <a:solidFill>
          <a:schemeClr val="dk1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2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0" name="Google Shape;350;p42"/>
          <p:cNvSpPr txBox="1"/>
          <p:nvPr>
            <p:ph idx="2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1" name="Google Shape;351;p42"/>
          <p:cNvSpPr/>
          <p:nvPr/>
        </p:nvSpPr>
        <p:spPr>
          <a:xfrm>
            <a:off x="228600" y="223500"/>
            <a:ext cx="2813700" cy="3235200"/>
          </a:xfrm>
          <a:prstGeom prst="roundRect">
            <a:avLst>
              <a:gd fmla="val 7166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52" name="Google Shape;352;p42"/>
          <p:cNvSpPr txBox="1"/>
          <p:nvPr>
            <p:ph idx="3" type="subTitle"/>
          </p:nvPr>
        </p:nvSpPr>
        <p:spPr>
          <a:xfrm>
            <a:off x="284650" y="295600"/>
            <a:ext cx="25728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42"/>
          <p:cNvSpPr txBox="1"/>
          <p:nvPr>
            <p:ph idx="4" type="body"/>
          </p:nvPr>
        </p:nvSpPr>
        <p:spPr>
          <a:xfrm>
            <a:off x="325150" y="1455738"/>
            <a:ext cx="2633700" cy="186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54" name="Google Shape;354;p42"/>
          <p:cNvSpPr/>
          <p:nvPr/>
        </p:nvSpPr>
        <p:spPr>
          <a:xfrm>
            <a:off x="3165150" y="223500"/>
            <a:ext cx="2813700" cy="3235200"/>
          </a:xfrm>
          <a:prstGeom prst="roundRect">
            <a:avLst>
              <a:gd fmla="val 7166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55" name="Google Shape;355;p42"/>
          <p:cNvSpPr txBox="1"/>
          <p:nvPr>
            <p:ph idx="5" type="subTitle"/>
          </p:nvPr>
        </p:nvSpPr>
        <p:spPr>
          <a:xfrm>
            <a:off x="3221200" y="295600"/>
            <a:ext cx="25728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42"/>
          <p:cNvSpPr txBox="1"/>
          <p:nvPr>
            <p:ph idx="6" type="body"/>
          </p:nvPr>
        </p:nvSpPr>
        <p:spPr>
          <a:xfrm>
            <a:off x="3261700" y="1455738"/>
            <a:ext cx="2633700" cy="186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57" name="Google Shape;357;p42"/>
          <p:cNvSpPr/>
          <p:nvPr/>
        </p:nvSpPr>
        <p:spPr>
          <a:xfrm>
            <a:off x="6101700" y="223500"/>
            <a:ext cx="2813700" cy="32352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58" name="Google Shape;358;p42"/>
          <p:cNvSpPr txBox="1"/>
          <p:nvPr>
            <p:ph idx="7" type="subTitle"/>
          </p:nvPr>
        </p:nvSpPr>
        <p:spPr>
          <a:xfrm>
            <a:off x="6157750" y="295600"/>
            <a:ext cx="2572800" cy="7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42"/>
          <p:cNvSpPr txBox="1"/>
          <p:nvPr>
            <p:ph idx="8" type="body"/>
          </p:nvPr>
        </p:nvSpPr>
        <p:spPr>
          <a:xfrm>
            <a:off x="6198250" y="1455738"/>
            <a:ext cx="2633700" cy="186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360" name="Google Shape;360;p42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eful links">
  <p:cSld name="CUSTOM_8">
    <p:bg>
      <p:bgPr>
        <a:solidFill>
          <a:schemeClr val="dk1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3"/>
          <p:cNvSpPr/>
          <p:nvPr/>
        </p:nvSpPr>
        <p:spPr>
          <a:xfrm>
            <a:off x="4633600" y="223500"/>
            <a:ext cx="4281900" cy="2002800"/>
          </a:xfrm>
          <a:prstGeom prst="roundRect">
            <a:avLst>
              <a:gd fmla="val 12782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63" name="Google Shape;363;p43"/>
          <p:cNvSpPr txBox="1"/>
          <p:nvPr/>
        </p:nvSpPr>
        <p:spPr>
          <a:xfrm>
            <a:off x="3286470" y="3339550"/>
            <a:ext cx="1257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dk1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☝️</a:t>
            </a:r>
            <a:endParaRPr sz="7200">
              <a:solidFill>
                <a:schemeClr val="dk1"/>
              </a:solidFill>
              <a:latin typeface="Public Sans Medium"/>
              <a:ea typeface="Public Sans Medium"/>
              <a:cs typeface="Public Sans Medium"/>
              <a:sym typeface="Public Sans Medium"/>
            </a:endParaRPr>
          </a:p>
        </p:txBody>
      </p:sp>
      <p:sp>
        <p:nvSpPr>
          <p:cNvPr id="364" name="Google Shape;364;p43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5" name="Google Shape;365;p43"/>
          <p:cNvSpPr txBox="1"/>
          <p:nvPr>
            <p:ph idx="2" type="subTitle"/>
          </p:nvPr>
        </p:nvSpPr>
        <p:spPr>
          <a:xfrm>
            <a:off x="5367775" y="3723400"/>
            <a:ext cx="35478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>
                <a:solidFill>
                  <a:schemeClr val="lt1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6" name="Google Shape;366;p43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67" name="Google Shape;367;p43"/>
          <p:cNvSpPr txBox="1"/>
          <p:nvPr>
            <p:ph idx="3" type="subTitle"/>
          </p:nvPr>
        </p:nvSpPr>
        <p:spPr>
          <a:xfrm>
            <a:off x="427825" y="396875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8" name="Google Shape;368;p43"/>
          <p:cNvSpPr txBox="1"/>
          <p:nvPr>
            <p:ph idx="4" type="subTitle"/>
          </p:nvPr>
        </p:nvSpPr>
        <p:spPr>
          <a:xfrm>
            <a:off x="427853" y="1124562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43"/>
          <p:cNvSpPr txBox="1"/>
          <p:nvPr>
            <p:ph idx="5" type="subTitle"/>
          </p:nvPr>
        </p:nvSpPr>
        <p:spPr>
          <a:xfrm>
            <a:off x="427853" y="1852223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43"/>
          <p:cNvSpPr txBox="1"/>
          <p:nvPr>
            <p:ph idx="6" type="subTitle"/>
          </p:nvPr>
        </p:nvSpPr>
        <p:spPr>
          <a:xfrm>
            <a:off x="427853" y="2595897"/>
            <a:ext cx="3906600" cy="66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43"/>
          <p:cNvSpPr txBox="1"/>
          <p:nvPr>
            <p:ph idx="7" type="subTitle"/>
          </p:nvPr>
        </p:nvSpPr>
        <p:spPr>
          <a:xfrm>
            <a:off x="4822775" y="289375"/>
            <a:ext cx="39066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43"/>
          <p:cNvSpPr txBox="1"/>
          <p:nvPr>
            <p:ph idx="8" type="body"/>
          </p:nvPr>
        </p:nvSpPr>
        <p:spPr>
          <a:xfrm>
            <a:off x="4844650" y="1061025"/>
            <a:ext cx="11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3" name="Google Shape;373;p43"/>
          <p:cNvSpPr txBox="1"/>
          <p:nvPr>
            <p:ph idx="9" type="body"/>
          </p:nvPr>
        </p:nvSpPr>
        <p:spPr>
          <a:xfrm>
            <a:off x="6225688" y="1061025"/>
            <a:ext cx="11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4" name="Google Shape;374;p43"/>
          <p:cNvSpPr txBox="1"/>
          <p:nvPr>
            <p:ph idx="13" type="body"/>
          </p:nvPr>
        </p:nvSpPr>
        <p:spPr>
          <a:xfrm>
            <a:off x="7606725" y="1061025"/>
            <a:ext cx="11493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5" name="Google Shape;375;p43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Point">
  <p:cSld name="CUSTOM_9">
    <p:bg>
      <p:bgPr>
        <a:solidFill>
          <a:schemeClr val="dk1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4"/>
          <p:cNvSpPr/>
          <p:nvPr/>
        </p:nvSpPr>
        <p:spPr>
          <a:xfrm>
            <a:off x="228600" y="223500"/>
            <a:ext cx="4280700" cy="4483800"/>
          </a:xfrm>
          <a:prstGeom prst="roundRect">
            <a:avLst>
              <a:gd fmla="val 7166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78" name="Google Shape;378;p44"/>
          <p:cNvSpPr txBox="1"/>
          <p:nvPr>
            <p:ph idx="1" type="subTitle"/>
          </p:nvPr>
        </p:nvSpPr>
        <p:spPr>
          <a:xfrm>
            <a:off x="529450" y="419650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44"/>
          <p:cNvSpPr txBox="1"/>
          <p:nvPr>
            <p:ph idx="2" type="body"/>
          </p:nvPr>
        </p:nvSpPr>
        <p:spPr>
          <a:xfrm>
            <a:off x="529510" y="716526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0" name="Google Shape;380;p44"/>
          <p:cNvSpPr txBox="1"/>
          <p:nvPr>
            <p:ph type="title"/>
          </p:nvPr>
        </p:nvSpPr>
        <p:spPr>
          <a:xfrm>
            <a:off x="393725" y="3932625"/>
            <a:ext cx="40371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1" name="Google Shape;381;p44"/>
          <p:cNvSpPr txBox="1"/>
          <p:nvPr>
            <p:ph idx="3" type="subTitle"/>
          </p:nvPr>
        </p:nvSpPr>
        <p:spPr>
          <a:xfrm>
            <a:off x="529480" y="1247253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44"/>
          <p:cNvSpPr txBox="1"/>
          <p:nvPr>
            <p:ph idx="4" type="body"/>
          </p:nvPr>
        </p:nvSpPr>
        <p:spPr>
          <a:xfrm>
            <a:off x="529540" y="1544130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3" name="Google Shape;383;p44"/>
          <p:cNvSpPr txBox="1"/>
          <p:nvPr>
            <p:ph idx="5" type="subTitle"/>
          </p:nvPr>
        </p:nvSpPr>
        <p:spPr>
          <a:xfrm>
            <a:off x="529480" y="2153577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44"/>
          <p:cNvSpPr txBox="1"/>
          <p:nvPr>
            <p:ph idx="6" type="body"/>
          </p:nvPr>
        </p:nvSpPr>
        <p:spPr>
          <a:xfrm>
            <a:off x="529540" y="2450446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5" name="Google Shape;385;p44"/>
          <p:cNvSpPr txBox="1"/>
          <p:nvPr>
            <p:ph idx="7" type="subTitle"/>
          </p:nvPr>
        </p:nvSpPr>
        <p:spPr>
          <a:xfrm>
            <a:off x="529480" y="3059905"/>
            <a:ext cx="3678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44"/>
          <p:cNvSpPr txBox="1"/>
          <p:nvPr>
            <p:ph idx="8" type="body"/>
          </p:nvPr>
        </p:nvSpPr>
        <p:spPr>
          <a:xfrm>
            <a:off x="529540" y="3356775"/>
            <a:ext cx="36789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87" name="Google Shape;387;p44"/>
          <p:cNvSpPr/>
          <p:nvPr>
            <p:ph idx="9" type="pic"/>
          </p:nvPr>
        </p:nvSpPr>
        <p:spPr>
          <a:xfrm>
            <a:off x="4633600" y="223500"/>
            <a:ext cx="4280700" cy="4483800"/>
          </a:xfrm>
          <a:prstGeom prst="roundRect">
            <a:avLst>
              <a:gd fmla="val 5546" name="adj"/>
            </a:avLst>
          </a:prstGeom>
          <a:noFill/>
          <a:ln>
            <a:noFill/>
          </a:ln>
        </p:spPr>
      </p:sp>
      <p:sp>
        <p:nvSpPr>
          <p:cNvPr id="388" name="Google Shape;388;p44"/>
          <p:cNvSpPr txBox="1"/>
          <p:nvPr>
            <p:ph idx="13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9" name="Google Shape;389;p44"/>
          <p:cNvSpPr txBox="1"/>
          <p:nvPr>
            <p:ph idx="14" type="subTitle"/>
          </p:nvPr>
        </p:nvSpPr>
        <p:spPr>
          <a:xfrm>
            <a:off x="4771050" y="3371675"/>
            <a:ext cx="38859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0" name="Google Shape;390;p44"/>
          <p:cNvSpPr txBox="1"/>
          <p:nvPr>
            <p:ph idx="15" type="body"/>
          </p:nvPr>
        </p:nvSpPr>
        <p:spPr>
          <a:xfrm>
            <a:off x="4771050" y="3944875"/>
            <a:ext cx="3970200" cy="5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1" name="Google Shape;391;p44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4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5"/>
          <p:cNvSpPr/>
          <p:nvPr/>
        </p:nvSpPr>
        <p:spPr>
          <a:xfrm>
            <a:off x="228600" y="482850"/>
            <a:ext cx="8686800" cy="4177800"/>
          </a:xfrm>
          <a:prstGeom prst="roundRect">
            <a:avLst>
              <a:gd fmla="val 716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94" name="Google Shape;394;p45"/>
          <p:cNvSpPr txBox="1"/>
          <p:nvPr>
            <p:ph idx="1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5" name="Google Shape;395;p45"/>
          <p:cNvSpPr/>
          <p:nvPr>
            <p:ph idx="2" type="pic"/>
          </p:nvPr>
        </p:nvSpPr>
        <p:spPr>
          <a:xfrm>
            <a:off x="7187225" y="620025"/>
            <a:ext cx="1575900" cy="150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96" name="Google Shape;396;p45"/>
          <p:cNvSpPr/>
          <p:nvPr>
            <p:ph idx="3" type="pic"/>
          </p:nvPr>
        </p:nvSpPr>
        <p:spPr>
          <a:xfrm>
            <a:off x="5467125" y="620025"/>
            <a:ext cx="1575900" cy="150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97" name="Google Shape;397;p45"/>
          <p:cNvSpPr/>
          <p:nvPr>
            <p:ph idx="4" type="pic"/>
          </p:nvPr>
        </p:nvSpPr>
        <p:spPr>
          <a:xfrm>
            <a:off x="3747025" y="620025"/>
            <a:ext cx="1575900" cy="1504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98" name="Google Shape;398;p45"/>
          <p:cNvSpPr txBox="1"/>
          <p:nvPr>
            <p:ph idx="5" type="subTitle"/>
          </p:nvPr>
        </p:nvSpPr>
        <p:spPr>
          <a:xfrm>
            <a:off x="3747025" y="2171750"/>
            <a:ext cx="15759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45"/>
          <p:cNvSpPr txBox="1"/>
          <p:nvPr>
            <p:ph idx="6" type="subTitle"/>
          </p:nvPr>
        </p:nvSpPr>
        <p:spPr>
          <a:xfrm>
            <a:off x="5467125" y="2171750"/>
            <a:ext cx="15759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45"/>
          <p:cNvSpPr txBox="1"/>
          <p:nvPr>
            <p:ph idx="7" type="subTitle"/>
          </p:nvPr>
        </p:nvSpPr>
        <p:spPr>
          <a:xfrm>
            <a:off x="7187225" y="2171750"/>
            <a:ext cx="1575900" cy="4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45"/>
          <p:cNvSpPr txBox="1"/>
          <p:nvPr>
            <p:ph idx="8" type="body"/>
          </p:nvPr>
        </p:nvSpPr>
        <p:spPr>
          <a:xfrm>
            <a:off x="3747025" y="2512550"/>
            <a:ext cx="15759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2" name="Google Shape;402;p45"/>
          <p:cNvSpPr txBox="1"/>
          <p:nvPr>
            <p:ph idx="9" type="body"/>
          </p:nvPr>
        </p:nvSpPr>
        <p:spPr>
          <a:xfrm>
            <a:off x="5467125" y="2512550"/>
            <a:ext cx="15759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3" name="Google Shape;403;p45"/>
          <p:cNvSpPr txBox="1"/>
          <p:nvPr>
            <p:ph idx="13" type="body"/>
          </p:nvPr>
        </p:nvSpPr>
        <p:spPr>
          <a:xfrm>
            <a:off x="7187225" y="2512550"/>
            <a:ext cx="1575900" cy="15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4" name="Google Shape;404;p45"/>
          <p:cNvSpPr txBox="1"/>
          <p:nvPr>
            <p:ph type="title"/>
          </p:nvPr>
        </p:nvSpPr>
        <p:spPr>
          <a:xfrm>
            <a:off x="396875" y="3950225"/>
            <a:ext cx="31977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05" name="Google Shape;405;p45"/>
          <p:cNvSpPr txBox="1"/>
          <p:nvPr>
            <p:ph idx="14" type="body"/>
          </p:nvPr>
        </p:nvSpPr>
        <p:spPr>
          <a:xfrm>
            <a:off x="396875" y="620025"/>
            <a:ext cx="29367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406" name="Google Shape;406;p45"/>
          <p:cNvSpPr txBox="1"/>
          <p:nvPr>
            <p:ph idx="15" type="body"/>
          </p:nvPr>
        </p:nvSpPr>
        <p:spPr>
          <a:xfrm>
            <a:off x="228600" y="4707375"/>
            <a:ext cx="2936700" cy="43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7" name="Google Shape;407;p45"/>
          <p:cNvSpPr txBox="1"/>
          <p:nvPr/>
        </p:nvSpPr>
        <p:spPr>
          <a:xfrm>
            <a:off x="5915400" y="4707300"/>
            <a:ext cx="30000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Page </a:t>
            </a:r>
            <a:fld id="{00000000-1234-1234-1234-123412341234}" type="slidenum">
              <a:rPr lang="en" sz="1000">
                <a:solidFill>
                  <a:schemeClr val="lt1"/>
                </a:solidFill>
                <a:latin typeface="Public Sans"/>
                <a:ea typeface="Public Sans"/>
                <a:cs typeface="Public Sans"/>
                <a:sym typeface="Public Sans"/>
              </a:rPr>
              <a:t>‹#›</a:t>
            </a:fld>
            <a:endParaRPr sz="1000">
              <a:solidFill>
                <a:schemeClr val="lt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ojis">
  <p:cSld name="CUSTOM">
    <p:bg>
      <p:bgPr>
        <a:solidFill>
          <a:schemeClr val="dk1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8600" y="223500"/>
            <a:ext cx="8686800" cy="20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ublic Sans"/>
              <a:buNone/>
              <a:defRPr sz="6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ublic Sans"/>
              <a:buNone/>
              <a:defRPr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7900" y="3457700"/>
            <a:ext cx="8686800" cy="14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●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○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ublic Sans"/>
              <a:buChar char="■"/>
              <a:defRPr sz="10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44">
          <p15:clr>
            <a:srgbClr val="E46962"/>
          </p15:clr>
        </p15:guide>
        <p15:guide id="2" orient="horz" pos="141">
          <p15:clr>
            <a:srgbClr val="E46962"/>
          </p15:clr>
        </p15:guide>
        <p15:guide id="3" pos="529">
          <p15:clr>
            <a:srgbClr val="E46962"/>
          </p15:clr>
        </p15:guide>
        <p15:guide id="4" pos="606">
          <p15:clr>
            <a:srgbClr val="E46962"/>
          </p15:clr>
        </p15:guide>
        <p15:guide id="5" pos="991">
          <p15:clr>
            <a:srgbClr val="E46962"/>
          </p15:clr>
        </p15:guide>
        <p15:guide id="6" pos="1069">
          <p15:clr>
            <a:srgbClr val="E46962"/>
          </p15:clr>
        </p15:guide>
        <p15:guide id="7" pos="1454">
          <p15:clr>
            <a:srgbClr val="E46962"/>
          </p15:clr>
        </p15:guide>
        <p15:guide id="8" pos="1531">
          <p15:clr>
            <a:srgbClr val="E46962"/>
          </p15:clr>
        </p15:guide>
        <p15:guide id="9" pos="1916">
          <p15:clr>
            <a:srgbClr val="E46962"/>
          </p15:clr>
        </p15:guide>
        <p15:guide id="10" pos="1994">
          <p15:clr>
            <a:srgbClr val="E46962"/>
          </p15:clr>
        </p15:guide>
        <p15:guide id="11" pos="2379">
          <p15:clr>
            <a:srgbClr val="E46962"/>
          </p15:clr>
        </p15:guide>
        <p15:guide id="12" pos="2456">
          <p15:clr>
            <a:srgbClr val="E46962"/>
          </p15:clr>
        </p15:guide>
        <p15:guide id="13" pos="2919">
          <p15:clr>
            <a:srgbClr val="E46962"/>
          </p15:clr>
        </p15:guide>
        <p15:guide id="14" pos="3381">
          <p15:clr>
            <a:srgbClr val="E46962"/>
          </p15:clr>
        </p15:guide>
        <p15:guide id="15" pos="3766">
          <p15:clr>
            <a:srgbClr val="E46962"/>
          </p15:clr>
        </p15:guide>
        <p15:guide id="16" pos="3844">
          <p15:clr>
            <a:srgbClr val="E46962"/>
          </p15:clr>
        </p15:guide>
        <p15:guide id="17" pos="4229">
          <p15:clr>
            <a:srgbClr val="E46962"/>
          </p15:clr>
        </p15:guide>
        <p15:guide id="18" pos="2841">
          <p15:clr>
            <a:srgbClr val="E46962"/>
          </p15:clr>
        </p15:guide>
        <p15:guide id="19" pos="3304">
          <p15:clr>
            <a:srgbClr val="E46962"/>
          </p15:clr>
        </p15:guide>
        <p15:guide id="20" pos="4306">
          <p15:clr>
            <a:srgbClr val="E46962"/>
          </p15:clr>
        </p15:guide>
        <p15:guide id="21" pos="4691">
          <p15:clr>
            <a:srgbClr val="E46962"/>
          </p15:clr>
        </p15:guide>
        <p15:guide id="22" pos="4769">
          <p15:clr>
            <a:srgbClr val="E46962"/>
          </p15:clr>
        </p15:guide>
        <p15:guide id="23" pos="5154">
          <p15:clr>
            <a:srgbClr val="E46962"/>
          </p15:clr>
        </p15:guide>
        <p15:guide id="24" pos="5231">
          <p15:clr>
            <a:srgbClr val="E46962"/>
          </p15:clr>
        </p15:guide>
        <p15:guide id="25" pos="5616">
          <p15:clr>
            <a:srgbClr val="E46962"/>
          </p15:clr>
        </p15:guide>
        <p15:guide id="26" orient="horz" pos="29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niaaa.nih.gov/sites/default/files/surveillance-report121.pdf" TargetMode="External"/><Relationship Id="rId4" Type="http://schemas.openxmlformats.org/officeDocument/2006/relationships/hyperlink" Target="https://www.niaaa.nih.gov/sites/default/files/surveillance-report121.pdf" TargetMode="External"/><Relationship Id="rId9" Type="http://schemas.openxmlformats.org/officeDocument/2006/relationships/hyperlink" Target="https://www.cdc.gov/impaired-driving/facts/index.html" TargetMode="External"/><Relationship Id="rId5" Type="http://schemas.openxmlformats.org/officeDocument/2006/relationships/hyperlink" Target="https://www.niaaa.nih.gov/sites/default/files/surveillance-report121.pdf" TargetMode="External"/><Relationship Id="rId6" Type="http://schemas.openxmlformats.org/officeDocument/2006/relationships/hyperlink" Target="https://www-fars.nhtsa.dot.gov/States/StatesAlcohol.aspx" TargetMode="External"/><Relationship Id="rId7" Type="http://schemas.openxmlformats.org/officeDocument/2006/relationships/hyperlink" Target="https://www2.census.gov/programs-surveys/popest/datasets/2020-2022/state/totals/" TargetMode="External"/><Relationship Id="rId8" Type="http://schemas.openxmlformats.org/officeDocument/2006/relationships/hyperlink" Target="https://www.iii.org/article/background-on-alcohol-impaired-driving#:~:text=Additional%20resources-,Overview,fatalities%20involving%20alcohol%2Dimpaired%20driving" TargetMode="External"/><Relationship Id="rId10" Type="http://schemas.openxmlformats.org/officeDocument/2006/relationships/hyperlink" Target="https://fivethirtyeight.com/features/which-state-has-the-worst-driver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7"/>
          <p:cNvSpPr txBox="1"/>
          <p:nvPr>
            <p:ph type="title"/>
          </p:nvPr>
        </p:nvSpPr>
        <p:spPr>
          <a:xfrm>
            <a:off x="910000" y="1564700"/>
            <a:ext cx="7447200" cy="16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/>
              <a:t>More Drinking, More Deaths?</a:t>
            </a:r>
            <a:endParaRPr sz="36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Investigating the Relationship Between State Alcohol Consumption and Drunk Driving Fatalities</a:t>
            </a:r>
            <a:endParaRPr sz="2500"/>
          </a:p>
        </p:txBody>
      </p:sp>
      <p:sp>
        <p:nvSpPr>
          <p:cNvPr id="415" name="Google Shape;415;p47"/>
          <p:cNvSpPr txBox="1"/>
          <p:nvPr>
            <p:ph idx="1" type="body"/>
          </p:nvPr>
        </p:nvSpPr>
        <p:spPr>
          <a:xfrm>
            <a:off x="3277375" y="3566023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Xina Wang</a:t>
            </a:r>
            <a:endParaRPr sz="1800"/>
          </a:p>
        </p:txBody>
      </p:sp>
      <p:sp>
        <p:nvSpPr>
          <p:cNvPr id="416" name="Google Shape;416;p47"/>
          <p:cNvSpPr txBox="1"/>
          <p:nvPr>
            <p:ph idx="2" type="body"/>
          </p:nvPr>
        </p:nvSpPr>
        <p:spPr>
          <a:xfrm>
            <a:off x="3280839" y="3972550"/>
            <a:ext cx="2483700" cy="3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Jan. 30, 2026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8"/>
          <p:cNvSpPr txBox="1"/>
          <p:nvPr>
            <p:ph idx="4294967295" type="body"/>
          </p:nvPr>
        </p:nvSpPr>
        <p:spPr>
          <a:xfrm>
            <a:off x="5993850" y="4707425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423" name="Google Shape;423;p48"/>
          <p:cNvSpPr txBox="1"/>
          <p:nvPr>
            <p:ph type="title"/>
          </p:nvPr>
        </p:nvSpPr>
        <p:spPr>
          <a:xfrm>
            <a:off x="399900" y="59212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/>
              <a:t>Drunk Driving</a:t>
            </a:r>
            <a:endParaRPr sz="3600"/>
          </a:p>
        </p:txBody>
      </p:sp>
      <p:sp>
        <p:nvSpPr>
          <p:cNvPr id="424" name="Google Shape;424;p48"/>
          <p:cNvSpPr txBox="1"/>
          <p:nvPr>
            <p:ph idx="2" type="body"/>
          </p:nvPr>
        </p:nvSpPr>
        <p:spPr>
          <a:xfrm>
            <a:off x="516750" y="1230600"/>
            <a:ext cx="8110500" cy="26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Drunk driving occurs when a person operates a vehicle while alcohol-impaired, defined as a blood alcohol concentration (BAC) of 0.08 g/dL or higher [1].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Alcohol-impaired driving leads to fatal motor vehicle crashes, resulting in the deaths of drivers, passengers, and innocent bystanders such as pedestrians.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 2022, 13,524 people were killed in crashes involving alcohol-impaired drivers, accounting for 32% of all traffic-related fatalities in the United States [2].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Although alcohol-related traffic fatalities have declined over time, millions of people continue to drive under the influence each year [1,2].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9"/>
          <p:cNvSpPr txBox="1"/>
          <p:nvPr>
            <p:ph idx="4294967295" type="body"/>
          </p:nvPr>
        </p:nvSpPr>
        <p:spPr>
          <a:xfrm>
            <a:off x="5993850" y="4707425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430" name="Google Shape;430;p49"/>
          <p:cNvSpPr txBox="1"/>
          <p:nvPr>
            <p:ph type="title"/>
          </p:nvPr>
        </p:nvSpPr>
        <p:spPr>
          <a:xfrm>
            <a:off x="399900" y="592125"/>
            <a:ext cx="8344200" cy="7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/>
              <a:t>The Question</a:t>
            </a:r>
            <a:endParaRPr sz="3600"/>
          </a:p>
        </p:txBody>
      </p:sp>
      <p:sp>
        <p:nvSpPr>
          <p:cNvPr id="431" name="Google Shape;431;p49"/>
          <p:cNvSpPr txBox="1"/>
          <p:nvPr>
            <p:ph idx="2" type="body"/>
          </p:nvPr>
        </p:nvSpPr>
        <p:spPr>
          <a:xfrm>
            <a:off x="495550" y="1472400"/>
            <a:ext cx="4076400" cy="26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What factors contribute to drunk driving deaths across U.S. states?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→ </a:t>
            </a:r>
            <a:r>
              <a:rPr b="1" lang="en" sz="1800"/>
              <a:t>Does state-level alcohol consumption predict drunk driving deaths?</a:t>
            </a:r>
            <a:r>
              <a:rPr lang="en" sz="1800"/>
              <a:t>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/>
              <a:t>Hypothesis</a:t>
            </a:r>
            <a:r>
              <a:rPr lang="en" sz="1800"/>
              <a:t>: </a:t>
            </a:r>
            <a:r>
              <a:rPr lang="en" sz="1800"/>
              <a:t>States with higher per capita alcohol consumption will experience higher rates of drunk driving fatalities.</a:t>
            </a:r>
            <a:endParaRPr sz="1800"/>
          </a:p>
        </p:txBody>
      </p:sp>
      <p:pic>
        <p:nvPicPr>
          <p:cNvPr descr="Status of Drunk Driving Accidents in America | Daniel R. Rosen" id="432" name="Google Shape;432;p49"/>
          <p:cNvPicPr preferRelativeResize="0"/>
          <p:nvPr/>
        </p:nvPicPr>
        <p:blipFill rotWithShape="1">
          <a:blip r:embed="rId3">
            <a:alphaModFix/>
          </a:blip>
          <a:srcRect b="0" l="0" r="16220" t="0"/>
          <a:stretch/>
        </p:blipFill>
        <p:spPr>
          <a:xfrm>
            <a:off x="4738275" y="1472400"/>
            <a:ext cx="3949500" cy="2459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50"/>
          <p:cNvSpPr txBox="1"/>
          <p:nvPr>
            <p:ph idx="4294967295" type="body"/>
          </p:nvPr>
        </p:nvSpPr>
        <p:spPr>
          <a:xfrm>
            <a:off x="5993850" y="4707525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438" name="Google Shape;438;p50"/>
          <p:cNvSpPr txBox="1"/>
          <p:nvPr>
            <p:ph type="title"/>
          </p:nvPr>
        </p:nvSpPr>
        <p:spPr>
          <a:xfrm>
            <a:off x="448700" y="698300"/>
            <a:ext cx="72279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Datasets</a:t>
            </a:r>
            <a:endParaRPr/>
          </a:p>
        </p:txBody>
      </p:sp>
      <p:sp>
        <p:nvSpPr>
          <p:cNvPr id="439" name="Google Shape;439;p50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0" name="Google Shape;440;p50"/>
          <p:cNvSpPr txBox="1"/>
          <p:nvPr>
            <p:ph idx="4294967295" type="body"/>
          </p:nvPr>
        </p:nvSpPr>
        <p:spPr>
          <a:xfrm>
            <a:off x="541000" y="1230600"/>
            <a:ext cx="8185200" cy="26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b="1" lang="en" sz="1250"/>
              <a:t>Fatal Crash Data (2022) from the National Highway Traffic Safety Administration (NHTSA)</a:t>
            </a:r>
            <a:endParaRPr b="1" sz="1250"/>
          </a:p>
          <a:p>
            <a:pPr indent="-307975" lvl="1" marL="914400" rtl="0" algn="l">
              <a:spcBef>
                <a:spcPts val="0"/>
              </a:spcBef>
              <a:spcAft>
                <a:spcPts val="0"/>
              </a:spcAft>
              <a:buSzPts val="1250"/>
              <a:buAutoNum type="alphaLcPeriod"/>
            </a:pPr>
            <a:r>
              <a:rPr lang="en" sz="1250"/>
              <a:t>Had data on persons killed in a crash and the driver’s BAC level </a:t>
            </a:r>
            <a:r>
              <a:rPr lang="en" sz="1250"/>
              <a:t>by state</a:t>
            </a:r>
            <a:endParaRPr sz="1250"/>
          </a:p>
          <a:p>
            <a:pPr indent="-307975" lvl="1" marL="914400" rtl="0" algn="l">
              <a:spcBef>
                <a:spcPts val="0"/>
              </a:spcBef>
              <a:spcAft>
                <a:spcPts val="0"/>
              </a:spcAft>
              <a:buSzPts val="1250"/>
              <a:buAutoNum type="alphaLcPeriod"/>
            </a:pPr>
            <a:r>
              <a:rPr i="1" lang="en" sz="1250"/>
              <a:t>Challenge</a:t>
            </a:r>
            <a:r>
              <a:rPr lang="en" sz="1250"/>
              <a:t>: this dataset only has the</a:t>
            </a:r>
            <a:r>
              <a:rPr lang="en" sz="1250"/>
              <a:t> raw death count, not death per capita (raw numbers are not a good metric; some states are less/more populated than others and will naturally have less/more people being killed by traffic accidents).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Font typeface="Arial"/>
              <a:buAutoNum type="arabicPeriod"/>
            </a:pPr>
            <a:r>
              <a:rPr b="1" lang="en" sz="1250"/>
              <a:t>State Population Data (2022) from the US Census Bureau</a:t>
            </a:r>
            <a:endParaRPr b="1" sz="1250"/>
          </a:p>
          <a:p>
            <a:pPr indent="-307975" lvl="1" marL="914400" rtl="0" algn="l">
              <a:spcBef>
                <a:spcPts val="0"/>
              </a:spcBef>
              <a:spcAft>
                <a:spcPts val="0"/>
              </a:spcAft>
              <a:buSzPts val="1250"/>
              <a:buAutoNum type="alphaLcPeriod"/>
            </a:pPr>
            <a:r>
              <a:rPr lang="en" sz="1250"/>
              <a:t>Added to normalize data across states of different sizes and calculate deaths per 100K population for fair comparison.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Font typeface="Arial"/>
              <a:buAutoNum type="arabicPeriod"/>
            </a:pPr>
            <a:r>
              <a:rPr b="1" lang="en" sz="1250"/>
              <a:t>Alcohol Consumption </a:t>
            </a:r>
            <a:r>
              <a:rPr b="1" lang="en" sz="1250"/>
              <a:t>by State </a:t>
            </a:r>
            <a:r>
              <a:rPr b="1" lang="en" sz="1250"/>
              <a:t>(2022) from National Institute on Alcohol Abuse and Alcoholism (NIAAA)</a:t>
            </a:r>
            <a:endParaRPr b="1" sz="1250"/>
          </a:p>
          <a:p>
            <a:pPr indent="-307975" lvl="1" marL="914400" rtl="0" algn="l">
              <a:spcBef>
                <a:spcPts val="0"/>
              </a:spcBef>
              <a:spcAft>
                <a:spcPts val="0"/>
              </a:spcAft>
              <a:buSzPts val="1250"/>
              <a:buAutoNum type="alphaLcPeriod"/>
            </a:pPr>
            <a:r>
              <a:rPr lang="en" sz="1250"/>
              <a:t>Had data on per capita ethanol consumption by state, breakdown by beverage type (beer, wine, spirits), and includes consumption deciles (state rankings) </a:t>
            </a:r>
            <a:endParaRPr sz="12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/>
              <a:t>Additional</a:t>
            </a:r>
            <a:r>
              <a:rPr b="1" lang="en" sz="1250"/>
              <a:t> questions</a:t>
            </a:r>
            <a:r>
              <a:rPr lang="en" sz="1250"/>
              <a:t> I now wanted to explore from these datasets: 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Char char="●"/>
            </a:pPr>
            <a:r>
              <a:rPr lang="en" sz="1250"/>
              <a:t>Does </a:t>
            </a:r>
            <a:r>
              <a:rPr b="1" lang="en" sz="1250"/>
              <a:t>alcohol type</a:t>
            </a:r>
            <a:r>
              <a:rPr lang="en" sz="1250"/>
              <a:t> matter (beer vs. wine vs. spirits)? 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Char char="●"/>
            </a:pPr>
            <a:r>
              <a:rPr lang="en" sz="1250"/>
              <a:t>What insights can we gain from comparing </a:t>
            </a:r>
            <a:r>
              <a:rPr b="1" lang="en" sz="1250"/>
              <a:t>high-alcohol consumption states (decile 1) vs. low-consumption states (decile 10)</a:t>
            </a:r>
            <a:r>
              <a:rPr lang="en" sz="1250"/>
              <a:t>?</a:t>
            </a:r>
            <a:endParaRPr sz="12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1"/>
          <p:cNvSpPr txBox="1"/>
          <p:nvPr>
            <p:ph idx="4294967295" type="body"/>
          </p:nvPr>
        </p:nvSpPr>
        <p:spPr>
          <a:xfrm>
            <a:off x="5993850" y="4707525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446" name="Google Shape;446;p51"/>
          <p:cNvSpPr txBox="1"/>
          <p:nvPr>
            <p:ph type="title"/>
          </p:nvPr>
        </p:nvSpPr>
        <p:spPr>
          <a:xfrm>
            <a:off x="448700" y="698300"/>
            <a:ext cx="72279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 &amp; Processing</a:t>
            </a:r>
            <a:endParaRPr/>
          </a:p>
        </p:txBody>
      </p:sp>
      <p:sp>
        <p:nvSpPr>
          <p:cNvPr id="447" name="Google Shape;447;p51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8" name="Google Shape;448;p51"/>
          <p:cNvSpPr txBox="1"/>
          <p:nvPr>
            <p:ph idx="4294967295" type="body"/>
          </p:nvPr>
        </p:nvSpPr>
        <p:spPr>
          <a:xfrm>
            <a:off x="541000" y="1230600"/>
            <a:ext cx="8185200" cy="26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/>
              <a:t>Key Variables</a:t>
            </a:r>
            <a:r>
              <a:rPr lang="en" sz="1250"/>
              <a:t>: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Char char="●"/>
            </a:pPr>
            <a:r>
              <a:rPr lang="en" sz="1250"/>
              <a:t>Granularity: State-level (51 observations: 50 states + DC)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Char char="●"/>
            </a:pPr>
            <a:r>
              <a:rPr lang="en" sz="1250"/>
              <a:t>Independent variable: Total alcohol consumption per capita (gallons of ethanol)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Char char="●"/>
            </a:pPr>
            <a:r>
              <a:rPr lang="en" sz="1250"/>
              <a:t>Dependent variable: Alcohol-related deaths per 100K population</a:t>
            </a:r>
            <a:r>
              <a:rPr lang="en" sz="1250"/>
              <a:t> </a:t>
            </a:r>
            <a:endParaRPr sz="12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/>
              <a:t>Challenges &amp; Solutions</a:t>
            </a:r>
            <a:r>
              <a:rPr lang="en" sz="1250"/>
              <a:t>: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NIAAA Alcohol Consumption Data: PDF table wouldn't download from website link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Char char="●"/>
            </a:pPr>
            <a:r>
              <a:rPr lang="en" sz="1250"/>
              <a:t>Solution: Extracted table from PDF using pdfplumber library, wrote custom regex patterns to parse table structure correctly → Output: alcohol_consumption_2022.csv</a:t>
            </a:r>
            <a:endParaRPr sz="125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NHTSA Traffic Fatality Data: raw data in text format, not standard CSV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Char char="●"/>
            </a:pPr>
            <a:r>
              <a:rPr lang="en" sz="1250"/>
              <a:t>Solution: Read as tab-delimited CSV file → Output: blood_alcohol_data_and_deaths.csv</a:t>
            </a:r>
            <a:endParaRPr sz="12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AutoNum type="arabicPeriod"/>
            </a:pPr>
            <a:r>
              <a:rPr lang="en" sz="1250"/>
              <a:t>Merging Datasets: inconsistent state naming (e.g., "District of Columbia" vs. "Dist. of Columb.")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Char char="●"/>
            </a:pPr>
            <a:r>
              <a:rPr lang="en" sz="1250"/>
              <a:t>   Solution: Standardized all state names before merging → Output: merged_alcohol_deaths.csv</a:t>
            </a:r>
            <a:endParaRPr sz="12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52"/>
          <p:cNvSpPr txBox="1"/>
          <p:nvPr>
            <p:ph idx="4294967295" type="body"/>
          </p:nvPr>
        </p:nvSpPr>
        <p:spPr>
          <a:xfrm>
            <a:off x="5993850" y="4707525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454" name="Google Shape;454;p52"/>
          <p:cNvSpPr txBox="1"/>
          <p:nvPr>
            <p:ph type="title"/>
          </p:nvPr>
        </p:nvSpPr>
        <p:spPr>
          <a:xfrm>
            <a:off x="448700" y="698300"/>
            <a:ext cx="72279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 &amp; Processing</a:t>
            </a:r>
            <a:endParaRPr/>
          </a:p>
        </p:txBody>
      </p:sp>
      <p:sp>
        <p:nvSpPr>
          <p:cNvPr id="455" name="Google Shape;455;p52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6" name="Google Shape;456;p52"/>
          <p:cNvSpPr txBox="1"/>
          <p:nvPr>
            <p:ph idx="4294967295" type="body"/>
          </p:nvPr>
        </p:nvSpPr>
        <p:spPr>
          <a:xfrm>
            <a:off x="541000" y="1230600"/>
            <a:ext cx="8185200" cy="26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/>
              <a:t>Key Variables: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Char char="●"/>
            </a:pPr>
            <a:r>
              <a:rPr lang="en" sz="1250"/>
              <a:t>Granularity: State-level (51 observations: 50 states + DC) 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Char char="●"/>
            </a:pPr>
            <a:r>
              <a:rPr lang="en" sz="1250"/>
              <a:t>Independent variable: Total alcohol consumption per capita (gallons of ethanol)</a:t>
            </a:r>
            <a:endParaRPr sz="1250"/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SzPts val="1250"/>
              <a:buChar char="●"/>
            </a:pPr>
            <a:r>
              <a:rPr lang="en" sz="1250"/>
              <a:t>Dependent variable: Alcohol-related deaths per 100K population </a:t>
            </a:r>
            <a:endParaRPr sz="12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Final </a:t>
            </a:r>
            <a:r>
              <a:rPr b="1" lang="en" sz="1400"/>
              <a:t>Population Normalization</a:t>
            </a:r>
            <a:r>
              <a:rPr lang="en" sz="1400"/>
              <a:t>: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Extracted POPEST2022 column from Census data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Filtered to include only states (excluded regional aggregates)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Merged data into current dataset and calculated deaths per 100K population for each BAC level </a:t>
            </a:r>
            <a:endParaRPr sz="1400"/>
          </a:p>
          <a:p>
            <a:pPr indent="-307975" lvl="1" marL="914400" rtl="0" algn="l">
              <a:spcBef>
                <a:spcPts val="0"/>
              </a:spcBef>
              <a:spcAft>
                <a:spcPts val="0"/>
              </a:spcAft>
              <a:buSzPts val="1250"/>
              <a:buChar char="○"/>
            </a:pPr>
            <a:r>
              <a:rPr lang="en" sz="1250"/>
              <a:t>Although</a:t>
            </a:r>
            <a:r>
              <a:rPr lang="en" sz="1250"/>
              <a:t> we only need BAC 0.08+ data for this study, calculating the total deaths per 100K population and for the other BAC levels was to validate that they sum together properly</a:t>
            </a:r>
            <a:endParaRPr sz="12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→ </a:t>
            </a:r>
            <a:r>
              <a:rPr b="1" lang="en" sz="1400"/>
              <a:t>Final dataset</a:t>
            </a:r>
            <a:r>
              <a:rPr lang="en" sz="1400"/>
              <a:t>: final_alcohol_analysis.csv (ready for analysis)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3"/>
          <p:cNvSpPr txBox="1"/>
          <p:nvPr>
            <p:ph idx="4294967295" type="body"/>
          </p:nvPr>
        </p:nvSpPr>
        <p:spPr>
          <a:xfrm>
            <a:off x="5993850" y="4707525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462" name="Google Shape;462;p53"/>
          <p:cNvSpPr txBox="1"/>
          <p:nvPr>
            <p:ph type="title"/>
          </p:nvPr>
        </p:nvSpPr>
        <p:spPr>
          <a:xfrm>
            <a:off x="448700" y="698300"/>
            <a:ext cx="72279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Script</a:t>
            </a:r>
            <a:endParaRPr/>
          </a:p>
        </p:txBody>
      </p:sp>
      <p:sp>
        <p:nvSpPr>
          <p:cNvPr id="463" name="Google Shape;463;p53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4" name="Google Shape;464;p53"/>
          <p:cNvSpPr txBox="1"/>
          <p:nvPr>
            <p:ph idx="4294967295" type="body"/>
          </p:nvPr>
        </p:nvSpPr>
        <p:spPr>
          <a:xfrm>
            <a:off x="541000" y="1230600"/>
            <a:ext cx="8185200" cy="26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Correlation analysis</a:t>
            </a:r>
            <a:r>
              <a:rPr lang="en" sz="1400"/>
              <a:t> between alcohol consumption and drunk driving deaths (focusing on BAC ≥ 0.08, the legal limit)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Linear regression</a:t>
            </a:r>
            <a:r>
              <a:rPr lang="en" sz="1400"/>
              <a:t> with </a:t>
            </a:r>
            <a:r>
              <a:rPr b="1" lang="en" sz="1400"/>
              <a:t>scatter plot visualization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Comparison of </a:t>
            </a:r>
            <a:r>
              <a:rPr b="1" lang="en" sz="1400"/>
              <a:t>high-consumption states (top 30%) vs. low-consumption states (bottom 30%)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Alcohol type analysis: calculates </a:t>
            </a:r>
            <a:r>
              <a:rPr b="1" lang="en" sz="1400"/>
              <a:t>separate correlations for beer, wine, and spirits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Outlier identification</a:t>
            </a:r>
            <a:r>
              <a:rPr lang="en" sz="1400"/>
              <a:t> to find states that don't fit the expected pattern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Key things I’m looking for</a:t>
            </a:r>
            <a:r>
              <a:rPr lang="en" sz="1400"/>
              <a:t>: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Is there a positive correlation between alcohol consumption and drunk driving deaths?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Is the relationship statistically significant (R² and correlation strength)?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Which states are outliers and why might they deviate from the pattern?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Does the type of alcohol consumed matter (beer vs. wine vs. spirits)?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400"/>
              <a:t>Do high-drinking states have significantly more drunk driving deaths than low-drinking states?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4"/>
          <p:cNvSpPr txBox="1"/>
          <p:nvPr>
            <p:ph idx="4294967295" type="body"/>
          </p:nvPr>
        </p:nvSpPr>
        <p:spPr>
          <a:xfrm>
            <a:off x="5993850" y="4707525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470" name="Google Shape;470;p54"/>
          <p:cNvSpPr txBox="1"/>
          <p:nvPr>
            <p:ph type="title"/>
          </p:nvPr>
        </p:nvSpPr>
        <p:spPr>
          <a:xfrm>
            <a:off x="448700" y="698300"/>
            <a:ext cx="72279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Results- Scatterplot</a:t>
            </a:r>
            <a:endParaRPr/>
          </a:p>
        </p:txBody>
      </p:sp>
      <p:sp>
        <p:nvSpPr>
          <p:cNvPr id="471" name="Google Shape;471;p54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2" name="Google Shape;472;p54"/>
          <p:cNvSpPr txBox="1"/>
          <p:nvPr>
            <p:ph idx="4294967295" type="body"/>
          </p:nvPr>
        </p:nvSpPr>
        <p:spPr>
          <a:xfrm>
            <a:off x="541000" y="1499575"/>
            <a:ext cx="4563000" cy="26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Key Statistics: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Correlation: -0.054 (essentially zero)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R² = 0.003 (only 0.3% of variation explained)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Regression line is nearly flat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/>
              <a:t>Conclusion</a:t>
            </a:r>
            <a:r>
              <a:rPr lang="en" sz="1400"/>
              <a:t>: </a:t>
            </a:r>
            <a:r>
              <a:rPr b="1" lang="en" sz="1400"/>
              <a:t>There is NO meaningful relationship between state alcohol consumption and drunk driving deaths.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How much a state drinks does NOT predict its drunk driving death rate!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473" name="Google Shape;473;p54" title="Screenshot 2026-01-30 at 3.58.4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0700" y="942626"/>
            <a:ext cx="3434674" cy="3444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55" title="Screenshot 2026-01-30 at 3.58.4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10700" y="942626"/>
            <a:ext cx="3434674" cy="3444626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55"/>
          <p:cNvSpPr txBox="1"/>
          <p:nvPr>
            <p:ph idx="4294967295" type="body"/>
          </p:nvPr>
        </p:nvSpPr>
        <p:spPr>
          <a:xfrm>
            <a:off x="5993850" y="4707525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480" name="Google Shape;480;p55"/>
          <p:cNvSpPr txBox="1"/>
          <p:nvPr>
            <p:ph type="title"/>
          </p:nvPr>
        </p:nvSpPr>
        <p:spPr>
          <a:xfrm>
            <a:off x="448700" y="698300"/>
            <a:ext cx="72279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Results- Outliers</a:t>
            </a:r>
            <a:endParaRPr/>
          </a:p>
        </p:txBody>
      </p:sp>
      <p:sp>
        <p:nvSpPr>
          <p:cNvPr id="481" name="Google Shape;481;p55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2" name="Google Shape;482;p55"/>
          <p:cNvSpPr txBox="1"/>
          <p:nvPr>
            <p:ph idx="4294967295" type="body"/>
          </p:nvPr>
        </p:nvSpPr>
        <p:spPr>
          <a:xfrm>
            <a:off x="541000" y="1230625"/>
            <a:ext cx="4769700" cy="26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States that defy the expected pattern</a:t>
            </a:r>
            <a:r>
              <a:rPr b="1" lang="en" sz="1400"/>
              <a:t>: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South Carolina</a:t>
            </a:r>
            <a:r>
              <a:rPr lang="en" sz="1400"/>
              <a:t>: 2.13 consumption → 8.9 deaths per 100K (HIGHEST)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Below-average drinking, but highest fatality rate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New Hampshire</a:t>
            </a:r>
            <a:r>
              <a:rPr lang="en" sz="1400"/>
              <a:t>: 4.48 consumption → 3.7 deaths per 100K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Highest drinking state, but moderate death rate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District of Columbia</a:t>
            </a:r>
            <a:r>
              <a:rPr lang="en" sz="1400"/>
              <a:t>: 4.10 consumption → 1.49 deaths per 100K (LOWEST)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Second-highest drinking, but lowest fatality rate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→ </a:t>
            </a:r>
            <a:r>
              <a:rPr b="1" lang="en" sz="1400"/>
              <a:t>The</a:t>
            </a:r>
            <a:r>
              <a:rPr b="1" lang="en" sz="1400"/>
              <a:t> states that drink the MOST have among the FEWEST drunk driving deaths? Let’s confirm.</a:t>
            </a:r>
            <a:endParaRPr b="1" sz="1400"/>
          </a:p>
        </p:txBody>
      </p:sp>
      <p:sp>
        <p:nvSpPr>
          <p:cNvPr id="483" name="Google Shape;483;p55"/>
          <p:cNvSpPr/>
          <p:nvPr/>
        </p:nvSpPr>
        <p:spPr>
          <a:xfrm>
            <a:off x="6282200" y="1112000"/>
            <a:ext cx="658500" cy="259800"/>
          </a:xfrm>
          <a:prstGeom prst="ellipse">
            <a:avLst/>
          </a:prstGeom>
          <a:noFill/>
          <a:ln cap="flat" cmpd="sng" w="3810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84" name="Google Shape;484;p55"/>
          <p:cNvSpPr/>
          <p:nvPr/>
        </p:nvSpPr>
        <p:spPr>
          <a:xfrm>
            <a:off x="8086875" y="2979075"/>
            <a:ext cx="658500" cy="317400"/>
          </a:xfrm>
          <a:prstGeom prst="ellipse">
            <a:avLst/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85" name="Google Shape;485;p55"/>
          <p:cNvSpPr/>
          <p:nvPr/>
        </p:nvSpPr>
        <p:spPr>
          <a:xfrm>
            <a:off x="7852125" y="3815613"/>
            <a:ext cx="704700" cy="287400"/>
          </a:xfrm>
          <a:prstGeom prst="ellipse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6"/>
          <p:cNvSpPr txBox="1"/>
          <p:nvPr>
            <p:ph idx="4294967295" type="body"/>
          </p:nvPr>
        </p:nvSpPr>
        <p:spPr>
          <a:xfrm>
            <a:off x="5993850" y="4707525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491" name="Google Shape;491;p56"/>
          <p:cNvSpPr txBox="1"/>
          <p:nvPr>
            <p:ph type="title"/>
          </p:nvPr>
        </p:nvSpPr>
        <p:spPr>
          <a:xfrm>
            <a:off x="448700" y="698300"/>
            <a:ext cx="72279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Results- Top vs. Bottom States</a:t>
            </a:r>
            <a:endParaRPr/>
          </a:p>
        </p:txBody>
      </p:sp>
      <p:sp>
        <p:nvSpPr>
          <p:cNvPr id="492" name="Google Shape;492;p56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3" name="Google Shape;493;p56" title="Screenshot 2026-01-30 at 4.51.0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9373" y="1380725"/>
            <a:ext cx="7408452" cy="278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7"/>
          <p:cNvSpPr txBox="1"/>
          <p:nvPr>
            <p:ph idx="4294967295" type="body"/>
          </p:nvPr>
        </p:nvSpPr>
        <p:spPr>
          <a:xfrm>
            <a:off x="5993850" y="4707525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499" name="Google Shape;499;p57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0" name="Google Shape;500;p57"/>
          <p:cNvSpPr txBox="1"/>
          <p:nvPr>
            <p:ph idx="4294967295" type="body"/>
          </p:nvPr>
        </p:nvSpPr>
        <p:spPr>
          <a:xfrm>
            <a:off x="1071101" y="2932042"/>
            <a:ext cx="7125000" cy="6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The Paradox</a:t>
            </a:r>
            <a:r>
              <a:rPr lang="en" sz="1400"/>
              <a:t>: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Highest deaths: South Carolina (consumption: 2.13) and New Mexico (2.39) drink </a:t>
            </a:r>
            <a:r>
              <a:rPr lang="en" sz="1400"/>
              <a:t>BELOW average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Lowest deaths: DC (4.10) and Massachusetts (2.82) drink ABOVE average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States</a:t>
            </a:r>
            <a:r>
              <a:rPr b="1" lang="en" sz="1400"/>
              <a:t> that consume more alcohol do NOT have more drunk driving deaths</a:t>
            </a:r>
            <a:r>
              <a:rPr lang="en" sz="1400"/>
              <a:t>. In fact, </a:t>
            </a:r>
            <a:r>
              <a:rPr b="1" lang="en" sz="1400"/>
              <a:t>high-consumption states tend to have LOWER death rates.  </a:t>
            </a:r>
            <a:endParaRPr b="1" sz="1400"/>
          </a:p>
        </p:txBody>
      </p:sp>
      <p:pic>
        <p:nvPicPr>
          <p:cNvPr id="501" name="Google Shape;501;p57" title="Screenshot 2026-01-30 at 4.51.0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9675" y="676275"/>
            <a:ext cx="5861894" cy="2202851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57"/>
          <p:cNvSpPr/>
          <p:nvPr/>
        </p:nvSpPr>
        <p:spPr>
          <a:xfrm>
            <a:off x="1755650" y="823275"/>
            <a:ext cx="2853000" cy="753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503" name="Google Shape;503;p57"/>
          <p:cNvSpPr/>
          <p:nvPr/>
        </p:nvSpPr>
        <p:spPr>
          <a:xfrm>
            <a:off x="4633600" y="823275"/>
            <a:ext cx="2853000" cy="753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8"/>
          <p:cNvSpPr txBox="1"/>
          <p:nvPr>
            <p:ph idx="4294967295" type="body"/>
          </p:nvPr>
        </p:nvSpPr>
        <p:spPr>
          <a:xfrm>
            <a:off x="5993850" y="4707525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509" name="Google Shape;509;p58"/>
          <p:cNvSpPr txBox="1"/>
          <p:nvPr>
            <p:ph type="title"/>
          </p:nvPr>
        </p:nvSpPr>
        <p:spPr>
          <a:xfrm>
            <a:off x="448700" y="698300"/>
            <a:ext cx="83820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Results- High vs. Low Consumption </a:t>
            </a:r>
            <a:endParaRPr/>
          </a:p>
        </p:txBody>
      </p:sp>
      <p:sp>
        <p:nvSpPr>
          <p:cNvPr id="510" name="Google Shape;510;p58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1" name="Google Shape;511;p58"/>
          <p:cNvSpPr txBox="1"/>
          <p:nvPr>
            <p:ph idx="4294967295" type="body"/>
          </p:nvPr>
        </p:nvSpPr>
        <p:spPr>
          <a:xfrm>
            <a:off x="554175" y="1573775"/>
            <a:ext cx="4236600" cy="26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High</a:t>
            </a:r>
            <a:r>
              <a:rPr lang="en" sz="1400"/>
              <a:t> drinking states (top 30%) average deaths per 100K: 3.99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Low drinking states (bottom 30%) average deaths per 100K: 4.24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The difference is negligible (0.26), confirming there's </a:t>
            </a:r>
            <a:r>
              <a:rPr b="1" lang="en" sz="1400"/>
              <a:t>no meaningful relationship between </a:t>
            </a:r>
            <a:r>
              <a:rPr b="1" lang="en" sz="1400"/>
              <a:t>state</a:t>
            </a:r>
            <a:r>
              <a:rPr b="1" lang="en" sz="1400"/>
              <a:t> </a:t>
            </a:r>
            <a:r>
              <a:rPr b="1" lang="en" sz="1400"/>
              <a:t>alcohol</a:t>
            </a:r>
            <a:r>
              <a:rPr b="1" lang="en" sz="1400"/>
              <a:t> consumption levels and average state drunk-driving deaths. 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High-drinking states even have slightly FEWER average deaths. </a:t>
            </a:r>
            <a:endParaRPr b="1" sz="1400"/>
          </a:p>
        </p:txBody>
      </p:sp>
      <p:pic>
        <p:nvPicPr>
          <p:cNvPr id="512" name="Google Shape;512;p58" title="Screenshot 2026-01-30 at 4.46.5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2100" y="1246100"/>
            <a:ext cx="3461857" cy="3337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9"/>
          <p:cNvSpPr txBox="1"/>
          <p:nvPr>
            <p:ph idx="4294967295" type="body"/>
          </p:nvPr>
        </p:nvSpPr>
        <p:spPr>
          <a:xfrm>
            <a:off x="5993850" y="4707525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518" name="Google Shape;518;p59"/>
          <p:cNvSpPr txBox="1"/>
          <p:nvPr>
            <p:ph type="title"/>
          </p:nvPr>
        </p:nvSpPr>
        <p:spPr>
          <a:xfrm>
            <a:off x="448700" y="698300"/>
            <a:ext cx="7227900" cy="5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Results- Alcohol Types</a:t>
            </a:r>
            <a:endParaRPr/>
          </a:p>
        </p:txBody>
      </p:sp>
      <p:sp>
        <p:nvSpPr>
          <p:cNvPr id="519" name="Google Shape;519;p59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0" name="Google Shape;520;p59"/>
          <p:cNvSpPr txBox="1"/>
          <p:nvPr>
            <p:ph idx="4294967295" type="body"/>
          </p:nvPr>
        </p:nvSpPr>
        <p:spPr>
          <a:xfrm>
            <a:off x="990021" y="3391571"/>
            <a:ext cx="7341600" cy="11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Beer shows slight positive correlation (0.3300) with deaths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Wine shows slight negative correlation (-0.3299) with deaths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Spirits shows very slight negative correlation (-0.1295) with deaths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/>
              <a:t>Beer is the ONLY alcohol type with a positive relationship to drunk driving deaths</a:t>
            </a:r>
            <a:r>
              <a:rPr lang="en" sz="1400"/>
              <a:t>, while wine and spirits show the opposite pattern. </a:t>
            </a:r>
            <a:r>
              <a:rPr b="1" lang="en" sz="1400"/>
              <a:t>All correlations remain weak overall</a:t>
            </a:r>
            <a:r>
              <a:rPr lang="en" sz="1400"/>
              <a:t>.</a:t>
            </a:r>
            <a:endParaRPr sz="1400"/>
          </a:p>
        </p:txBody>
      </p:sp>
      <p:pic>
        <p:nvPicPr>
          <p:cNvPr id="521" name="Google Shape;521;p59" title="Screenshot 2026-01-30 at 4.53.0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118" y="1329775"/>
            <a:ext cx="6814959" cy="2017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0"/>
          <p:cNvSpPr txBox="1"/>
          <p:nvPr>
            <p:ph idx="1" type="body"/>
          </p:nvPr>
        </p:nvSpPr>
        <p:spPr>
          <a:xfrm>
            <a:off x="167675" y="1865950"/>
            <a:ext cx="4280700" cy="14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Why do we observe that how much people drink isn’t what determines drunk driving deaths? Other factors likely matter more:</a:t>
            </a:r>
            <a:endParaRPr/>
          </a:p>
        </p:txBody>
      </p:sp>
      <p:sp>
        <p:nvSpPr>
          <p:cNvPr id="527" name="Google Shape;527;p60"/>
          <p:cNvSpPr txBox="1"/>
          <p:nvPr>
            <p:ph idx="4294967295" type="body"/>
          </p:nvPr>
        </p:nvSpPr>
        <p:spPr>
          <a:xfrm>
            <a:off x="5993850" y="4707300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528" name="Google Shape;528;p60"/>
          <p:cNvSpPr txBox="1"/>
          <p:nvPr>
            <p:ph idx="3" type="subTitle"/>
          </p:nvPr>
        </p:nvSpPr>
        <p:spPr>
          <a:xfrm>
            <a:off x="225725" y="223500"/>
            <a:ext cx="41646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529" name="Google Shape;529;p60"/>
          <p:cNvSpPr txBox="1"/>
          <p:nvPr>
            <p:ph idx="15" type="subTitle"/>
          </p:nvPr>
        </p:nvSpPr>
        <p:spPr>
          <a:xfrm>
            <a:off x="4849387" y="348971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Urban vs. Rural</a:t>
            </a:r>
            <a:endParaRPr/>
          </a:p>
        </p:txBody>
      </p:sp>
      <p:sp>
        <p:nvSpPr>
          <p:cNvPr id="530" name="Google Shape;530;p60"/>
          <p:cNvSpPr txBox="1"/>
          <p:nvPr>
            <p:ph idx="16" type="body"/>
          </p:nvPr>
        </p:nvSpPr>
        <p:spPr>
          <a:xfrm>
            <a:off x="4849450" y="645847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DC, NY, NJ, MA (low deaths) are dense urban areas with public transit. Wyoming, Montana, New Mexico (high deaths) are rural with long driving distances in between towns.</a:t>
            </a:r>
            <a:endParaRPr sz="1400"/>
          </a:p>
        </p:txBody>
      </p:sp>
      <p:sp>
        <p:nvSpPr>
          <p:cNvPr id="531" name="Google Shape;531;p60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2" name="Google Shape;532;p60"/>
          <p:cNvSpPr txBox="1"/>
          <p:nvPr>
            <p:ph idx="6" type="subTitle"/>
          </p:nvPr>
        </p:nvSpPr>
        <p:spPr>
          <a:xfrm>
            <a:off x="4849362" y="1896555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Drinking Culture</a:t>
            </a:r>
            <a:endParaRPr/>
          </a:p>
        </p:txBody>
      </p:sp>
      <p:sp>
        <p:nvSpPr>
          <p:cNvPr id="533" name="Google Shape;533;p60"/>
          <p:cNvSpPr txBox="1"/>
          <p:nvPr>
            <p:ph idx="7" type="body"/>
          </p:nvPr>
        </p:nvSpPr>
        <p:spPr>
          <a:xfrm>
            <a:off x="4849425" y="2193425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Where/how people drink is important (bars vs. at home, if these are within walking distance). </a:t>
            </a:r>
            <a:r>
              <a:rPr b="1" lang="en" sz="1400"/>
              <a:t>Our results for the different alcohol types might suggest that beer drinking culture is associated more with driving </a:t>
            </a:r>
            <a:r>
              <a:rPr lang="en" sz="1400"/>
              <a:t>and consumed in settings that require more driving (bars in car-dependent areas)</a:t>
            </a:r>
            <a:r>
              <a:rPr b="1" lang="en" sz="1400"/>
              <a:t>, while wine drinking is more associated with fine dining and urban settings with alternative transportation.</a:t>
            </a:r>
            <a:r>
              <a:rPr lang="en" sz="1400"/>
              <a:t> </a:t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1"/>
          <p:cNvSpPr txBox="1"/>
          <p:nvPr>
            <p:ph idx="1" type="body"/>
          </p:nvPr>
        </p:nvSpPr>
        <p:spPr>
          <a:xfrm>
            <a:off x="167675" y="1865950"/>
            <a:ext cx="4280700" cy="14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Why do we observe that how much people drink isn’t what determines drunk driving deaths? Other factors likely matter more:</a:t>
            </a:r>
            <a:endParaRPr/>
          </a:p>
        </p:txBody>
      </p:sp>
      <p:sp>
        <p:nvSpPr>
          <p:cNvPr id="539" name="Google Shape;539;p61"/>
          <p:cNvSpPr txBox="1"/>
          <p:nvPr>
            <p:ph idx="4294967295" type="body"/>
          </p:nvPr>
        </p:nvSpPr>
        <p:spPr>
          <a:xfrm>
            <a:off x="5993850" y="4707300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540" name="Google Shape;540;p61"/>
          <p:cNvSpPr txBox="1"/>
          <p:nvPr>
            <p:ph idx="3" type="subTitle"/>
          </p:nvPr>
        </p:nvSpPr>
        <p:spPr>
          <a:xfrm>
            <a:off x="225725" y="223500"/>
            <a:ext cx="41646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541" name="Google Shape;541;p61"/>
          <p:cNvSpPr txBox="1"/>
          <p:nvPr>
            <p:ph idx="4" type="subTitle"/>
          </p:nvPr>
        </p:nvSpPr>
        <p:spPr>
          <a:xfrm>
            <a:off x="4788473" y="973852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DUI Enforcement</a:t>
            </a:r>
            <a:endParaRPr/>
          </a:p>
        </p:txBody>
      </p:sp>
      <p:sp>
        <p:nvSpPr>
          <p:cNvPr id="542" name="Google Shape;542;p61"/>
          <p:cNvSpPr txBox="1"/>
          <p:nvPr>
            <p:ph idx="5" type="body"/>
          </p:nvPr>
        </p:nvSpPr>
        <p:spPr>
          <a:xfrm>
            <a:off x="4788536" y="1270728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Some states may be more strictly enforcing DUI’s, not allowing repeat alcohol-impaired drivers back on the road.</a:t>
            </a:r>
            <a:endParaRPr sz="1400"/>
          </a:p>
        </p:txBody>
      </p:sp>
      <p:sp>
        <p:nvSpPr>
          <p:cNvPr id="543" name="Google Shape;543;p61"/>
          <p:cNvSpPr txBox="1"/>
          <p:nvPr>
            <p:ph idx="8" type="subTitle"/>
          </p:nvPr>
        </p:nvSpPr>
        <p:spPr>
          <a:xfrm>
            <a:off x="4788494" y="2190463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Road Infrastructure</a:t>
            </a:r>
            <a:endParaRPr/>
          </a:p>
        </p:txBody>
      </p:sp>
      <p:sp>
        <p:nvSpPr>
          <p:cNvPr id="544" name="Google Shape;544;p61"/>
          <p:cNvSpPr txBox="1"/>
          <p:nvPr>
            <p:ph idx="9" type="body"/>
          </p:nvPr>
        </p:nvSpPr>
        <p:spPr>
          <a:xfrm>
            <a:off x="4788557" y="2487333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Highway design, speed limits</a:t>
            </a:r>
            <a:endParaRPr sz="1400"/>
          </a:p>
        </p:txBody>
      </p:sp>
      <p:sp>
        <p:nvSpPr>
          <p:cNvPr id="545" name="Google Shape;545;p61"/>
          <p:cNvSpPr txBox="1"/>
          <p:nvPr>
            <p:ph idx="13" type="subTitle"/>
          </p:nvPr>
        </p:nvSpPr>
        <p:spPr>
          <a:xfrm>
            <a:off x="4788519" y="2986727"/>
            <a:ext cx="3849000" cy="2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Demographics</a:t>
            </a:r>
            <a:endParaRPr/>
          </a:p>
        </p:txBody>
      </p:sp>
      <p:sp>
        <p:nvSpPr>
          <p:cNvPr id="546" name="Google Shape;546;p61"/>
          <p:cNvSpPr txBox="1"/>
          <p:nvPr>
            <p:ph idx="14" type="body"/>
          </p:nvPr>
        </p:nvSpPr>
        <p:spPr>
          <a:xfrm>
            <a:off x="4788582" y="3283597"/>
            <a:ext cx="38490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Gender, a</a:t>
            </a:r>
            <a:r>
              <a:rPr lang="en" sz="1400"/>
              <a:t>ge distribution, tourism, etc. in different states</a:t>
            </a:r>
            <a:endParaRPr sz="1400"/>
          </a:p>
        </p:txBody>
      </p:sp>
      <p:sp>
        <p:nvSpPr>
          <p:cNvPr id="547" name="Google Shape;547;p61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2"/>
          <p:cNvSpPr txBox="1"/>
          <p:nvPr>
            <p:ph idx="1" type="subTitle"/>
          </p:nvPr>
        </p:nvSpPr>
        <p:spPr>
          <a:xfrm>
            <a:off x="235025" y="3723400"/>
            <a:ext cx="35415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Directions</a:t>
            </a:r>
            <a:endParaRPr/>
          </a:p>
        </p:txBody>
      </p:sp>
      <p:pic>
        <p:nvPicPr>
          <p:cNvPr descr="Overhead view of a team huddled around a table." id="553" name="Google Shape;553;p6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4168" r="14168" t="0"/>
          <a:stretch/>
        </p:blipFill>
        <p:spPr>
          <a:xfrm>
            <a:off x="228600" y="223500"/>
            <a:ext cx="3547800" cy="3302100"/>
          </a:xfrm>
          <a:prstGeom prst="roundRect">
            <a:avLst>
              <a:gd fmla="val 16667" name="adj"/>
            </a:avLst>
          </a:prstGeom>
        </p:spPr>
      </p:pic>
      <p:sp>
        <p:nvSpPr>
          <p:cNvPr id="554" name="Google Shape;554;p62"/>
          <p:cNvSpPr txBox="1"/>
          <p:nvPr>
            <p:ph idx="4294967295" type="body"/>
          </p:nvPr>
        </p:nvSpPr>
        <p:spPr>
          <a:xfrm>
            <a:off x="5993850" y="4707300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555" name="Google Shape;555;p62"/>
          <p:cNvSpPr txBox="1"/>
          <p:nvPr>
            <p:ph type="title"/>
          </p:nvPr>
        </p:nvSpPr>
        <p:spPr>
          <a:xfrm>
            <a:off x="4024125" y="284829"/>
            <a:ext cx="1969800" cy="7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</p:txBody>
      </p:sp>
      <p:sp>
        <p:nvSpPr>
          <p:cNvPr id="556" name="Google Shape;556;p62"/>
          <p:cNvSpPr txBox="1"/>
          <p:nvPr>
            <p:ph idx="4" type="body"/>
          </p:nvPr>
        </p:nvSpPr>
        <p:spPr>
          <a:xfrm>
            <a:off x="4024125" y="1115617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Public Transit Analysis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Analyze public transit availability and walkability scores in high vs. low fatality states to quantify the urban/rural effect in certain regions.</a:t>
            </a:r>
            <a:endParaRPr sz="1200"/>
          </a:p>
        </p:txBody>
      </p:sp>
      <p:sp>
        <p:nvSpPr>
          <p:cNvPr id="557" name="Google Shape;557;p62"/>
          <p:cNvSpPr txBox="1"/>
          <p:nvPr>
            <p:ph idx="5" type="title"/>
          </p:nvPr>
        </p:nvSpPr>
        <p:spPr>
          <a:xfrm>
            <a:off x="6588700" y="284827"/>
            <a:ext cx="19698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</a:t>
            </a:r>
            <a:endParaRPr/>
          </a:p>
        </p:txBody>
      </p:sp>
      <p:sp>
        <p:nvSpPr>
          <p:cNvPr id="558" name="Google Shape;558;p62"/>
          <p:cNvSpPr txBox="1"/>
          <p:nvPr>
            <p:ph idx="6" type="body"/>
          </p:nvPr>
        </p:nvSpPr>
        <p:spPr>
          <a:xfrm>
            <a:off x="6588700" y="1115617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Time-Series Analysis</a:t>
            </a:r>
            <a:r>
              <a:rPr lang="en" sz="1200"/>
              <a:t> Compare drunk driving fatality trends 2005-2025 to assess impact of the popularization of rideshare services (Uber/Lyft/Waymo) on deaths.</a:t>
            </a:r>
            <a:endParaRPr sz="1200"/>
          </a:p>
        </p:txBody>
      </p:sp>
      <p:sp>
        <p:nvSpPr>
          <p:cNvPr id="559" name="Google Shape;559;p62"/>
          <p:cNvSpPr txBox="1"/>
          <p:nvPr>
            <p:ph idx="7" type="title"/>
          </p:nvPr>
        </p:nvSpPr>
        <p:spPr>
          <a:xfrm>
            <a:off x="4024154" y="2540152"/>
            <a:ext cx="20118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</a:t>
            </a:r>
            <a:endParaRPr/>
          </a:p>
        </p:txBody>
      </p:sp>
      <p:sp>
        <p:nvSpPr>
          <p:cNvPr id="560" name="Google Shape;560;p62"/>
          <p:cNvSpPr txBox="1"/>
          <p:nvPr>
            <p:ph idx="8" type="body"/>
          </p:nvPr>
        </p:nvSpPr>
        <p:spPr>
          <a:xfrm>
            <a:off x="4024138" y="3370942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DUI Policy Analysis</a:t>
            </a:r>
            <a:endParaRPr b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Compare DUI laws, enforcement practices, and penalties across states to identify which policies are most effective.</a:t>
            </a:r>
            <a:endParaRPr sz="1200"/>
          </a:p>
        </p:txBody>
      </p:sp>
      <p:sp>
        <p:nvSpPr>
          <p:cNvPr id="561" name="Google Shape;561;p62"/>
          <p:cNvSpPr txBox="1"/>
          <p:nvPr>
            <p:ph idx="9" type="title"/>
          </p:nvPr>
        </p:nvSpPr>
        <p:spPr>
          <a:xfrm>
            <a:off x="6588725" y="2540154"/>
            <a:ext cx="1969800" cy="8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</a:t>
            </a:r>
            <a:endParaRPr/>
          </a:p>
        </p:txBody>
      </p:sp>
      <p:sp>
        <p:nvSpPr>
          <p:cNvPr id="562" name="Google Shape;562;p62"/>
          <p:cNvSpPr txBox="1"/>
          <p:nvPr>
            <p:ph idx="13" type="body"/>
          </p:nvPr>
        </p:nvSpPr>
        <p:spPr>
          <a:xfrm>
            <a:off x="6588713" y="3370942"/>
            <a:ext cx="2202000" cy="9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/>
              <a:t>Demographic Analysis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Statistical analysis of age and gender to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identify high-risk populations and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geographic hotspots.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</p:txBody>
      </p:sp>
      <p:sp>
        <p:nvSpPr>
          <p:cNvPr id="563" name="Google Shape;563;p62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3"/>
          <p:cNvSpPr txBox="1"/>
          <p:nvPr>
            <p:ph idx="4294967295" type="body"/>
          </p:nvPr>
        </p:nvSpPr>
        <p:spPr>
          <a:xfrm>
            <a:off x="5993850" y="4707300"/>
            <a:ext cx="2921700" cy="43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#</a:t>
            </a:r>
            <a:endParaRPr/>
          </a:p>
        </p:txBody>
      </p:sp>
      <p:sp>
        <p:nvSpPr>
          <p:cNvPr id="569" name="Google Shape;569;p63"/>
          <p:cNvSpPr txBox="1"/>
          <p:nvPr>
            <p:ph idx="2" type="subTitle"/>
          </p:nvPr>
        </p:nvSpPr>
        <p:spPr>
          <a:xfrm>
            <a:off x="5367775" y="3723400"/>
            <a:ext cx="3547800" cy="98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570" name="Google Shape;570;p63"/>
          <p:cNvSpPr txBox="1"/>
          <p:nvPr>
            <p:ph idx="3" type="subTitle"/>
          </p:nvPr>
        </p:nvSpPr>
        <p:spPr>
          <a:xfrm>
            <a:off x="427825" y="396875"/>
            <a:ext cx="3906600" cy="42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/>
              <a:t>Datasets (Linked)</a:t>
            </a:r>
            <a:endParaRPr b="1"/>
          </a:p>
        </p:txBody>
      </p:sp>
      <p:sp>
        <p:nvSpPr>
          <p:cNvPr id="571" name="Google Shape;571;p63"/>
          <p:cNvSpPr txBox="1"/>
          <p:nvPr>
            <p:ph idx="4" type="subTitle"/>
          </p:nvPr>
        </p:nvSpPr>
        <p:spPr>
          <a:xfrm>
            <a:off x="427825" y="971098"/>
            <a:ext cx="3906600" cy="338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NIAAA: </a:t>
            </a:r>
            <a:r>
              <a:rPr lang="en" u="sng">
                <a:solidFill>
                  <a:schemeClr val="hlink"/>
                </a:solidFill>
                <a:hlinkClick r:id="rId3"/>
              </a:rPr>
              <a:t>APPARENT PER CAPITA ALCOHOL CONSUMPTION: NATIONAL, STATE, </a:t>
            </a:r>
            <a:r>
              <a:rPr lang="en" u="sng">
                <a:solidFill>
                  <a:schemeClr val="hlink"/>
                </a:solidFill>
                <a:hlinkClick r:id="rId4"/>
              </a:rPr>
              <a:t>AND REGIONAL</a:t>
            </a:r>
            <a:r>
              <a:rPr lang="en" u="sng">
                <a:solidFill>
                  <a:schemeClr val="hlink"/>
                </a:solidFill>
                <a:hlinkClick r:id="rId5"/>
              </a:rPr>
              <a:t> TRENDS, 1977–2022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NHTSA: </a:t>
            </a:r>
            <a:r>
              <a:rPr lang="en" u="sng">
                <a:solidFill>
                  <a:schemeClr val="hlink"/>
                </a:solidFill>
                <a:hlinkClick r:id="rId6"/>
              </a:rPr>
              <a:t>Persons Killed, by STATE and Highest Driver Blood Alcohol Concentration (BAC) in Crash - State : USA, Year : 2022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ts val="1800"/>
              <a:buAutoNum type="arabicPeriod"/>
            </a:pPr>
            <a:r>
              <a:rPr lang="en" u="sng">
                <a:solidFill>
                  <a:schemeClr val="hlink"/>
                </a:solidFill>
                <a:hlinkClick r:id="rId7"/>
              </a:rPr>
              <a:t>2022 US Census Bureau Census: State</a:t>
            </a:r>
            <a:endParaRPr/>
          </a:p>
        </p:txBody>
      </p:sp>
      <p:sp>
        <p:nvSpPr>
          <p:cNvPr id="572" name="Google Shape;572;p63"/>
          <p:cNvSpPr txBox="1"/>
          <p:nvPr>
            <p:ph idx="7" type="subTitle"/>
          </p:nvPr>
        </p:nvSpPr>
        <p:spPr>
          <a:xfrm>
            <a:off x="4822775" y="289375"/>
            <a:ext cx="39066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Background Information</a:t>
            </a:r>
            <a:endParaRPr sz="1800"/>
          </a:p>
        </p:txBody>
      </p:sp>
      <p:sp>
        <p:nvSpPr>
          <p:cNvPr id="573" name="Google Shape;573;p63"/>
          <p:cNvSpPr txBox="1"/>
          <p:nvPr>
            <p:ph idx="8" type="body"/>
          </p:nvPr>
        </p:nvSpPr>
        <p:spPr>
          <a:xfrm>
            <a:off x="4759725" y="693775"/>
            <a:ext cx="39066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[1] </a:t>
            </a:r>
            <a:r>
              <a:rPr lang="en" sz="1600" u="sng">
                <a:solidFill>
                  <a:schemeClr val="hlink"/>
                </a:solidFill>
                <a:hlinkClick r:id="rId8"/>
              </a:rPr>
              <a:t>Background on: Alcohol-impaired driving</a:t>
            </a:r>
            <a:r>
              <a:rPr lang="en" sz="1600"/>
              <a:t> (Insurance Information Institute)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[2] </a:t>
            </a:r>
            <a:r>
              <a:rPr lang="en" sz="1600" u="sng">
                <a:solidFill>
                  <a:schemeClr val="hlink"/>
                </a:solidFill>
                <a:hlinkClick r:id="rId9"/>
              </a:rPr>
              <a:t>Impaired Driving Facts</a:t>
            </a:r>
            <a:r>
              <a:rPr lang="en" sz="1600"/>
              <a:t> (CDC)</a:t>
            </a:r>
            <a:endParaRPr sz="1600"/>
          </a:p>
        </p:txBody>
      </p:sp>
      <p:sp>
        <p:nvSpPr>
          <p:cNvPr id="574" name="Google Shape;574;p63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5" name="Google Shape;575;p63"/>
          <p:cNvSpPr txBox="1"/>
          <p:nvPr>
            <p:ph idx="8" type="body"/>
          </p:nvPr>
        </p:nvSpPr>
        <p:spPr>
          <a:xfrm>
            <a:off x="4882800" y="2884163"/>
            <a:ext cx="3906600" cy="10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This project was inspired by 538 Data’s article </a:t>
            </a:r>
            <a:r>
              <a:rPr lang="en" u="sng">
                <a:solidFill>
                  <a:schemeClr val="lt1"/>
                </a:solid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“Dear Mona, Which State Has the Worst Drivers?”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ew Employee Orientation &amp; Training">
  <a:themeElements>
    <a:clrScheme name="Simple Light">
      <a:dk1>
        <a:srgbClr val="000000"/>
      </a:dk1>
      <a:lt1>
        <a:srgbClr val="FBF8F4"/>
      </a:lt1>
      <a:dk2>
        <a:srgbClr val="4B917D"/>
      </a:dk2>
      <a:lt2>
        <a:srgbClr val="DAFEA4"/>
      </a:lt2>
      <a:accent1>
        <a:srgbClr val="A0C7FE"/>
      </a:accent1>
      <a:accent2>
        <a:srgbClr val="E0E0E0"/>
      </a:accent2>
      <a:accent3>
        <a:srgbClr val="BDE6DB"/>
      </a:accent3>
      <a:accent4>
        <a:srgbClr val="F7FDD7"/>
      </a:accent4>
      <a:accent5>
        <a:srgbClr val="FFFFFF"/>
      </a:accent5>
      <a:accent6>
        <a:srgbClr val="3F8BA5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